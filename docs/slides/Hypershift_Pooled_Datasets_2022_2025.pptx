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58f8c0410a942f7" /><Relationship Type="http://schemas.openxmlformats.org/officeDocument/2006/relationships/extended-properties" Target="/docProps/app.xml" Id="Ra16f92aa4ef54b9f" /><Relationship Type="http://schemas.openxmlformats.org/officeDocument/2006/relationships/officeDocument" Target="/ppt/presentation.xml" Id="Rc338f4d64cb34b1b" /></Relationships>
</file>

<file path=ppt/presentation.xml><?xml version="1.0" encoding="utf-8"?>
<p:presentation xmlns:p="http://schemas.openxmlformats.org/presentationml/2006/main">
  <p:sldMasterIdLst>
    <p:sldMasterId xmlns:r="http://schemas.openxmlformats.org/officeDocument/2006/relationships" id="2147483648" r:id="R2541f7d87fe3480c"/>
  </p:sldMasterIdLst>
  <p:notesMasterIdLst>
    <p:notesMasterId xmlns:r="http://schemas.openxmlformats.org/officeDocument/2006/relationships" r:id="R55a818b0d39c4b9a"/>
  </p:notesMasterIdLst>
  <p:sldIdLst>
    <p:sldId xmlns:r="http://schemas.openxmlformats.org/officeDocument/2006/relationships" id="256" r:id="R6ebba5bc48ec46f0"/>
    <p:sldId xmlns:r="http://schemas.openxmlformats.org/officeDocument/2006/relationships" id="257" r:id="Rdeafde956bc14f83"/>
    <p:sldId xmlns:r="http://schemas.openxmlformats.org/officeDocument/2006/relationships" id="258" r:id="R7f00b1e18ab0407e"/>
    <p:sldId xmlns:r="http://schemas.openxmlformats.org/officeDocument/2006/relationships" id="259" r:id="Rb2475bfa17cb418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9b89d499b0d4fc9" /><Relationship Type="http://schemas.openxmlformats.org/officeDocument/2006/relationships/slideMaster" Target="/ppt/slideMasters/slideMaster1.xml" Id="R2541f7d87fe3480c" /><Relationship Type="http://schemas.openxmlformats.org/officeDocument/2006/relationships/notesMaster" Target="/ppt/notesMasters/notesMaster1.xml" Id="R55a818b0d39c4b9a" /><Relationship Type="http://schemas.openxmlformats.org/officeDocument/2006/relationships/presProps" Target="/ppt/presProps.xml" Id="R1fd7b774469f4350" /><Relationship Type="http://schemas.openxmlformats.org/officeDocument/2006/relationships/tableStyles" Target="/ppt/tableStyles.xml" Id="R1694d17ce657492a" /><Relationship Type="http://schemas.openxmlformats.org/officeDocument/2006/relationships/slide" Target="/ppt/slides/slide1.xml" Id="R6ebba5bc48ec46f0" /><Relationship Type="http://schemas.openxmlformats.org/officeDocument/2006/relationships/slide" Target="/ppt/slides/slide2.xml" Id="Rdeafde956bc14f83" /><Relationship Type="http://schemas.openxmlformats.org/officeDocument/2006/relationships/slide" Target="/ppt/slides/slide3.xml" Id="R7f00b1e18ab0407e" /><Relationship Type="http://schemas.openxmlformats.org/officeDocument/2006/relationships/slide" Target="/ppt/slides/slide4.xml" Id="Rb2475bfa17cb418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ba711a8345b4ce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eba2fbfc6744068" /><Relationship Type="http://schemas.openxmlformats.org/officeDocument/2006/relationships/notesMaster" Target="/ppt/notesMasters/notesMaster1.xml" Id="R3c0ba1098f2f4df9" /></Relationships>
</file>

<file path=ppt/notesSlides/_rels/notesSlide2.xml.rels>&#65279;<?xml version="1.0" encoding="utf-8"?><Relationships xmlns="http://schemas.openxmlformats.org/package/2006/relationships"><Relationship Type="http://schemas.openxmlformats.org/officeDocument/2006/relationships/slide" Target="/ppt/slides/slide2.xml" Id="Rc4bf342343f7432c" /><Relationship Type="http://schemas.openxmlformats.org/officeDocument/2006/relationships/notesMaster" Target="/ppt/notesMasters/notesMaster1.xml" Id="R5586abdb132a4c32" /></Relationships>
</file>

<file path=ppt/notesSlides/_rels/notesSlide3.xml.rels>&#65279;<?xml version="1.0" encoding="utf-8"?><Relationships xmlns="http://schemas.openxmlformats.org/package/2006/relationships"><Relationship Type="http://schemas.openxmlformats.org/officeDocument/2006/relationships/slide" Target="/ppt/slides/slide3.xml" Id="Ra4a14fe20a7b43b0" /><Relationship Type="http://schemas.openxmlformats.org/officeDocument/2006/relationships/notesMaster" Target="/ppt/notesMasters/notesMaster1.xml" Id="R40f699d6016f486a" /></Relationships>
</file>

<file path=ppt/notesSlides/_rels/notesSlide4.xml.rels>&#65279;<?xml version="1.0" encoding="utf-8"?><Relationships xmlns="http://schemas.openxmlformats.org/package/2006/relationships"><Relationship Type="http://schemas.openxmlformats.org/officeDocument/2006/relationships/slide" Target="/ppt/slides/slide4.xml" Id="Rd7884c6f23b349f3" /><Relationship Type="http://schemas.openxmlformats.org/officeDocument/2006/relationships/notesMaster" Target="/ppt/notesMasters/notesMaster1.xml" Id="R62a781467a2e4bb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sampling code selects 100 names per historical exchange cohort by sorting SHA256 ticker hashes, without using returns. The historical parent cohorts still embed selection and survival bias. Modern public downloads recover original-issuer data for 68 NYSE and 67 NASDAQ names. The original 100-coordinate panel retains masks for unavailable names. AVX and CAMP were excluded because current ticker reuse referred to different issuers. Counts are recovered histories at any point, not simultaneously eligible stocks. The historical cohorts include funds and preferred securities, not only common stocks.</a:t>
            </a:r>
          </a:p>
          <a:p xmlns:a="http://schemas.openxmlformats.org/drawingml/2006/main">
            <a:r>
              <a:t>Sources: https://github.com/fulifeng/Temporal_Relational_Stock_Ranking/tree/cfbb01bdf194b81bc5893a1b37aff1c0d0d2a82d/data</a:t>
            </a:r>
          </a:p>
          <a:p xmlns:a="http://schemas.openxmlformats.org/drawingml/2006/main">
            <a:r>
              <a:t>https://finance.yahoo.com/</a:t>
            </a:r>
          </a:p>
          <a:p xmlns:a="http://schemas.openxmlformats.org/drawingml/2006/main">
            <a:r>
              <a:t>https://ranaroussi.github.io/yfinance/</a:t>
            </a:r>
          </a:p>
          <a:p xmlns:a="http://schemas.openxmlformats.org/drawingml/2006/main">
            <a:r>
              <a:t>Local provenance: data/recent_cohorts/manifest.json, coverage.csv, config/recent_identity_exclusions.json, fetch_research_cohorts.py. Snapshot acquired 2026-10-05, yfinance 1.7.0. Historical raw data originates from Google Finance in the RSR repository. Older tests use 2015–2017. Modern12 was an earlier 12-stock diagnostic and is not the current comparison. SPY and QQQ are controls, not a claim that we trained on all index constituents.</a:t>
            </a:r>
          </a:p>
          <a:p xmlns:a="http://schemas.openxmlformats.org/drawingml/2006/main">
            <a:r>
              <a:t>ETF history sources: https://finance.yahoo.com/quote/SPY/history/</a:t>
            </a:r>
          </a:p>
          <a:p xmlns:a="http://schemas.openxmlformats.org/drawingml/2006/main">
            <a:r>
              <a:t>https://finance.yahoo.com/quote/QQQ/history/</a:t>
            </a:r>
          </a:p>
          <a:p xmlns:a="http://schemas.openxmlformats.org/drawingml/2006/main">
            <a:br/>
            <a:r>
              <a:t>Pooled-study update, 2026-10-08: The chronology audit reconstructed all 16 saved folds, verified saved training-only scalers and prior-validation model selections, and perturbed future data without changing earlier features or eligibility. All 19 pipeline tests passed. These checks do not certify point-in-time vendor histories or remove survivorship bias and prior test reuse. Sources: runs/robust_comparison/DATA_AND_SPLITS.md and chronology_audit.csv. Model weights are not trained once on all 2022–2025 data. Each annual test uses its own prior-data fit.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table shows years containing actual training signals rather than nominal raw-data availability. We refit before each test year and freeze the model for that year. Dates are identical across the two cohort labels for a given horizon. Three random seeds (7, 19, 42) form a rank ensemble. Selection uses only available prior validation scores. We fit scalers and model relations without test observations. These are retrospective exploratory tests: 2024–2025 had already been examined during earlier research, so the batch is not a pristine confirmation study.</a:t>
            </a:r>
          </a:p>
          <a:p xmlns:a="http://schemas.openxmlformats.org/drawingml/2006/main">
            <a:r>
              <a:t>5 sessions, test 2022: training 2019-01-15 to 2020-12-16, validation 2021-01-08 to 2021-12-21, test signals 2022-01-05 to 2022-12-19. Last train label 2020-12-24, last validation label 2021-12-30.</a:t>
            </a:r>
          </a:p>
          <a:p xmlns:a="http://schemas.openxmlformats.org/drawingml/2006/main">
            <a:r>
              <a:t>5 sessions, test 2023: training 2019-01-15 to 2021-12-21, validation 2022-01-05 to 2022-12-19, test signals 2023-01-04 to 2023-12-18. Last train label 2021-12-30, last validation label 2022-12-28.</a:t>
            </a:r>
          </a:p>
          <a:p xmlns:a="http://schemas.openxmlformats.org/drawingml/2006/main">
            <a:r>
              <a:t>5 sessions, test 2024: training 2019-01-15 to 2022-12-19, validation 2023-01-04 to 2023-12-18, test signals 2024-01-03 to 2024-12-16. Last train label 2022-12-28, last validation label 2023-12-27.</a:t>
            </a:r>
          </a:p>
          <a:p xmlns:a="http://schemas.openxmlformats.org/drawingml/2006/main">
            <a:r>
              <a:t>5 sessions, test 2025: training 2020-01-06 to 2023-12-18, validation 2024-01-03 to 2024-12-16, test signals 2025-01-08 to 2025-12-16. Last train label 2023-12-27, last validation label 2024-12-24.</a:t>
            </a:r>
          </a:p>
          <a:p xmlns:a="http://schemas.openxmlformats.org/drawingml/2006/main">
            <a:r>
              <a:t>1 session, test 2022: training 2019-01-15 to 2020-12-29, validation 2021-01-04 to 2021-12-29, test signals 2022-01-03 to 2022-12-28. Last train label 2020-12-31, last validation label 2021-12-31.</a:t>
            </a:r>
          </a:p>
          <a:p xmlns:a="http://schemas.openxmlformats.org/drawingml/2006/main">
            <a:r>
              <a:t>1 session, test 2023: training 2019-01-15 to 2021-12-29, validation 2022-01-03 to 2022-12-28, test signals 2023-01-03 to 2023-12-27. Last train label 2021-12-31, last validation label 2022-12-30.</a:t>
            </a:r>
          </a:p>
          <a:p xmlns:a="http://schemas.openxmlformats.org/drawingml/2006/main">
            <a:r>
              <a:t>1 session, test 2024: training 2019-01-15 to 2022-12-28, validation 2023-01-03 to 2023-12-27, test signals 2024-01-02 to 2024-12-27. Last train label 2022-12-30, last validation label 2023-12-29.</a:t>
            </a:r>
          </a:p>
          <a:p xmlns:a="http://schemas.openxmlformats.org/drawingml/2006/main">
            <a:r>
              <a:t>1 session, test 2025: training 2020-01-02 to 2023-12-27, validation 2024-01-02 to 2024-12-27, test signals 2025-01-02 to 2025-12-29. Last train label 2023-12-29, last validation label 2024-12-31.</a:t>
            </a:r>
          </a:p>
          <a:p xmlns:a="http://schemas.openxmlformats.org/drawingml/2006/main">
            <a:r>
              <a:t>Sources: runs/robust_2022_2025_final/*/fold.json; runs/daily_2022_2025_final/*/fold.json; config/robust_experiment_plan.json; ROBUST_RESEARCH.md. Market-data sources: https://ranaroussi.github.io/yfinance/ and https://github.com/fulifeng/Temporal_Relational_Stock_Ranking/tree/cfbb01bdf194b81bc5893a1b37aff1c0d0d2a82d/data</a:t>
            </a:r>
          </a:p>
          <a:p xmlns:a="http://schemas.openxmlformats.org/drawingml/2006/main">
            <a:br/>
            <a:r>
              <a:t>Pooled-study update, 2026-10-08: The chronology audit reconstructed all 16 saved folds, verified saved training-only scalers and prior-validation model selections, and perturbed future data without changing earlier features or eligibility. All 19 pipeline tests passed. These checks do not certify point-in-time vendor histories or remove survivorship bias and prior test reuse. Sources: runs/robust_comparison/DATA_AND_SPLITS.md and chronology_audit.csv. Model weights are not trained once on all 2022–2025 data. Each annual test uses its own prior-data fit.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Inputs: daily adjusted-close return, adjusted close / MA5 - 1, adjusted close / MA20 - 1, 20-session return standard deviation, log dollar volume / ADV20. Raw close times volume measures liquidity. Adjusted prices approximate total returns and may contain revised corporate actions. Features use no fundamentals, news, or future observations. Targets enter at close t+1 and exit at t+2 (daily) or t+6 (5 sessions). Eligibility depends on observed history and lagged liquidity. The fixed tensor contains 100 security coordinates per cohort, but unavailable names cannot be ranked as eligible. During the modern test years, min/max eligible counts across both horizons are 56/63 NYSE and 50/59 NASDAQ.</a:t>
            </a:r>
          </a:p>
          <a:p xmlns:a="http://schemas.openxmlformats.org/drawingml/2006/main">
            <a:r>
              <a:t>The public dataset lacks certified point-in-time membership and complete delisting returns. Results remain conditional research evidence. Simulated transactions include commissions, slippage and a liquidity participation cap. Each annual account starts at $1m, and pooled returns concatenate annual folds with boundary gaps, rather than one uninterrupted live account.</a:t>
            </a:r>
          </a:p>
          <a:p xmlns:a="http://schemas.openxmlformats.org/drawingml/2006/main">
            <a:r>
              <a:t>Sources: research_engine.py, robust_engine.py, runs/robust_comparison/execution_quality_by_year.csv, data/recent_cohorts/manifest.json.</a:t>
            </a:r>
          </a:p>
          <a:p xmlns:a="http://schemas.openxmlformats.org/drawingml/2006/main">
            <a:r>
              <a:t>Price controls: https://finance.yahoo.com/quote/SPY/history/</a:t>
            </a:r>
          </a:p>
          <a:p xmlns:a="http://schemas.openxmlformats.org/drawingml/2006/main">
            <a:r>
              <a:t>https://finance.yahoo.com/quote/QQQ/history/</a:t>
            </a:r>
          </a:p>
          <a:p xmlns:a="http://schemas.openxmlformats.org/drawingml/2006/main">
            <a:r>
              <a:t>Data access: https://ranaroussi.github.io/yfinance/</a:t>
            </a:r>
          </a:p>
          <a:p xmlns:a="http://schemas.openxmlformats.org/drawingml/2006/main">
            <a:r>
              <a:t>Index descriptions: https://www.ssga.com/us/en/individual/etfs/state-street-spdr-sp-500-etf-trust-spy and https://www.invesco.com/qqq-etf/en/about.html</a:t>
            </a:r>
          </a:p>
          <a:p xmlns:a="http://schemas.openxmlformats.org/drawingml/2006/main">
            <a:br/>
            <a:r>
              <a:t>Pooled-study update, 2026-10-08: The chronology audit reconstructed all 16 saved folds, verified saved training-only scalers and prior-validation model selections, and perturbed future data without changing earlier features or eligibility. All 19 pipeline tests passed. These checks do not certify point-in-time vendor histories or remove survivorship bias and prior test reuse. Sources: runs/robust_comparison/DATA_AND_SPLITS.md and chronology_audit.csv. Model weights are not trained once on all 2022–2025 data. Each annual test uses its own prior-data fit.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Pooled means compounding annual held-out daily portfolio returns within one cohort and one horizon. NYSE and NASDAQ are not merged. Each fold starts at $1m with cash, and omitted boundary dates mean the pooled curve is not an uninterrupted live-account simulation. Sharpe is recomputed from concatenated daily returns, not averaged across four annual Sharpes. Each model keeps its own previously validation-selected K and portfolio method. The selected-architecture procedure is a different series. All metrics include modeled costs unless explicitly marked gross.</a:t>
            </a:r>
          </a:p>
          <a:p xmlns:a="http://schemas.openxmlformats.org/drawingml/2006/main">
            <a:r>
              <a:t>Confidence intervals: 1,000 paired circular block-bootstrap replicates, 20 trading sessions per block, resampling separately within each year, random seed 20261005. Identical resampled dates are used for the model and both ETF controls. A model Sharpe interval and an interval for a paired Sharpe difference answer different questions. No multiplicity or post-selection correction is applied, and the models are not refit within bootstrap samples.</a:t>
            </a:r>
          </a:p>
          <a:p xmlns:a="http://schemas.openxmlformats.org/drawingml/2006/main">
            <a:r>
              <a:t>NASDAQ five-session THINK+mixer+Huber net Sharpe is 0.674510. Its own 95% Sharpe interval is [-0.264390, 1.651602]. Its Sharpe difference from SPY is 0.053208 with 95% interval [-0.396458, 0.524015], and from QQQ 0.048726 with interval [-0.444644, 0.595521]. Neither demonstrates an ETF advantage.</a:t>
            </a:r>
          </a:p>
          <a:p xmlns:a="http://schemas.openxmlformats.org/drawingml/2006/main">
            <a:r>
              <a:t>Sources: docs/COMBINED_2022_2025.md, docs/CONFIDENCE_INTERVALS.md, docs/DATA_AND_SPLITS.md; machine-readable source runs/robust_comparison/pooled_confidence_intervals.csv. Market data sources are retained on slides 1 and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b5e34726b1f4b8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661b3ed89bb448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4d286fb5f0c4dd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1830efda8404af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20880a04fce432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8f2c3990258407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D70F2E6-8B74-45E8-B23A-82B4DB092EF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D7521AE-7FA5-4812-93D5-D4B45828406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6042600-FF77-44D1-8B5F-9212F05C5E5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FBAB0C1-E47E-470E-B833-E8C229F3E14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8AB6DAD-B107-4D87-913E-B6911D787DA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86958DB-E742-4ED5-BA07-34E0F69C9C3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EDA9BA2-E5F0-4BA2-8FD8-5C015554692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A06C63B-E7C9-4E0D-B4C5-005EE82A8AC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B0E41E2-EA1C-4E71-B43A-B777CA82E8B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8AF4E9A-422A-474F-A9AF-8C4460A9087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9201e98ca6f460f" /><Relationship Type="http://schemas.openxmlformats.org/officeDocument/2006/relationships/slideLayout" Target="/ppt/slideLayouts/slideLayout1.xml" Id="R6a194a18288b4a7e" /><Relationship Type="http://schemas.openxmlformats.org/officeDocument/2006/relationships/slideLayout" Target="/ppt/slideLayouts/slideLayout2.xml" Id="R493e057bf9644053" /><Relationship Type="http://schemas.openxmlformats.org/officeDocument/2006/relationships/slideLayout" Target="/ppt/slideLayouts/slideLayout3.xml" Id="R844cf6d28f434b8d" /><Relationship Type="http://schemas.openxmlformats.org/officeDocument/2006/relationships/slideLayout" Target="/ppt/slideLayouts/slideLayout4.xml" Id="R3bc0764c8ba94f93" /><Relationship Type="http://schemas.openxmlformats.org/officeDocument/2006/relationships/slideLayout" Target="/ppt/slideLayouts/slideLayout5.xml" Id="R35877a69f90b49a0" /><Relationship Type="http://schemas.openxmlformats.org/officeDocument/2006/relationships/slideLayout" Target="/ppt/slideLayouts/slideLayout6.xml" Id="R648eb2cc73b5406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194a18288b4a7e"/>
    <p:sldLayoutId xmlns:r="http://schemas.openxmlformats.org/officeDocument/2006/relationships" id="2147483650" r:id="R493e057bf9644053"/>
    <p:sldLayoutId xmlns:r="http://schemas.openxmlformats.org/officeDocument/2006/relationships" id="2147483651" r:id="R844cf6d28f434b8d"/>
    <p:sldLayoutId xmlns:r="http://schemas.openxmlformats.org/officeDocument/2006/relationships" id="2147483652" r:id="R3bc0764c8ba94f93"/>
    <p:sldLayoutId xmlns:r="http://schemas.openxmlformats.org/officeDocument/2006/relationships" id="2147483653" r:id="R35877a69f90b49a0"/>
    <p:sldLayoutId xmlns:r="http://schemas.openxmlformats.org/officeDocument/2006/relationships" id="2147483654" r:id="R648eb2cc73b5406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047447f4e85494b" /><Relationship Type="http://schemas.openxmlformats.org/officeDocument/2006/relationships/hyperlink" Target="https://finance.yahoo.com/" TargetMode="External" Id="R6f1c6e62849e42a0" /><Relationship Type="http://schemas.openxmlformats.org/officeDocument/2006/relationships/hyperlink" Target="https://ranaroussi.github.io/yfinance/" TargetMode="External" Id="R281cdaf21b9f467c" /><Relationship Type="http://schemas.openxmlformats.org/officeDocument/2006/relationships/hyperlink" Target="https://github.com/fulifeng/Temporal_Relational_Stock_Ranking/tree/cfbb01bdf194b81bc5893a1b37aff1c0d0d2a82d/data" TargetMode="External" Id="R59936c6b23294ce8" /><Relationship Type="http://schemas.openxmlformats.org/officeDocument/2006/relationships/notesSlide" Target="/ppt/notesSlides/notesSlide1.xml" Id="R2af8dac9c2ee47a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cebfd2b61564d0b" /><Relationship Type="http://schemas.openxmlformats.org/officeDocument/2006/relationships/notesSlide" Target="/ppt/notesSlides/notesSlide2.xml" Id="Ra5712a19c29e4a0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c9d8c2209a64ecd" /><Relationship Type="http://schemas.openxmlformats.org/officeDocument/2006/relationships/hyperlink" Target="https://finance.yahoo.com/quote/SPY/history/" TargetMode="External" Id="R7d7fcd66a9404b6f" /><Relationship Type="http://schemas.openxmlformats.org/officeDocument/2006/relationships/hyperlink" Target="https://finance.yahoo.com/quote/QQQ/history/" TargetMode="External" Id="Rbed001e9a8e04373" /><Relationship Type="http://schemas.openxmlformats.org/officeDocument/2006/relationships/notesSlide" Target="/ppt/notesSlides/notesSlide3.xml" Id="Re677c2a85f7e46c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149bf6b006e42b7" /><Relationship Type="http://schemas.openxmlformats.org/officeDocument/2006/relationships/notesSlide" Target="/ppt/notesSlides/notesSlide4.xml" Id="R4485ffd53b644f7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60C1B2E-FE7A-4810-A45F-9ADA2AE10703}"/>
              </a:ext>
            </a:extLst>
          </p:cNvPr>
          <p:cNvSpPr>
            <a:spLocks xmlns:a="http://schemas.openxmlformats.org/drawingml/2006/main" noGrp="1"/>
          </p:cNvSpPr>
          <p:nvPr/>
        </p:nvSpPr>
        <p:spPr>
          <a:xfrm xmlns:a="http://schemas.openxmlformats.org/drawingml/2006/main">
            <a:off x="609600" y="409575"/>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42D41"/>
                </a:solidFill>
                <a:latin typeface="Arial"/>
                <a:ea typeface="Arial"/>
                <a:cs typeface="Arial"/>
              </a:defRPr>
            </a:defPPr>
          </a:lstStyle>
          <a:p xmlns:a="http://schemas.openxmlformats.org/drawingml/2006/main">
            <a:pPr>
              <a:buNone/>
              <a:defRPr sz="3300" b="1">
                <a:solidFill>
                  <a:srgbClr val="142D41"/>
                </a:solidFill>
                <a:latin typeface="Arial"/>
                <a:ea typeface="Arial"/>
                <a:cs typeface="Arial"/>
              </a:defRPr>
            </a:pPr>
            <a:r>
              <a:rPr sz="3300" b="1">
                <a:solidFill>
                  <a:srgbClr val="142D41"/>
                </a:solidFill>
                <a:latin typeface="Arial"/>
                <a:ea typeface="Arial"/>
                <a:cs typeface="Arial"/>
              </a:rPr>
              <a:t>Datasets for the pooled 2022–2025 study</a:t>
            </a:r>
          </a:p>
        </p:txBody>
      </p:sp>
      <p:sp>
        <p:nvSpPr>
          <p:cNvPr id="2" name="">
            <a:extLst xmlns:a="http://schemas.openxmlformats.org/drawingml/2006/main">
              <a:ext uri="{FF2B5EF4-FFF2-40B4-BE49-F238E27FC236}">
                <a16:creationId xmlns:a16="http://schemas.microsoft.com/office/drawing/2014/main" id="{FAF31BC6-1181-4989-87CA-A175B31DA35A}"/>
              </a:ext>
            </a:extLst>
          </p:cNvPr>
          <p:cNvSpPr>
            <a:spLocks xmlns:a="http://schemas.openxmlformats.org/drawingml/2006/main" noGrp="1"/>
          </p:cNvSpPr>
          <p:nvPr/>
        </p:nvSpPr>
        <p:spPr>
          <a:xfrm xmlns:a="http://schemas.openxmlformats.org/drawingml/2006/main">
            <a:off x="609600" y="11525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496171"/>
                </a:solidFill>
                <a:latin typeface="Arial"/>
                <a:ea typeface="Arial"/>
                <a:cs typeface="Arial"/>
              </a:defRPr>
            </a:defPPr>
          </a:lstStyle>
          <a:p xmlns:a="http://schemas.openxmlformats.org/drawingml/2006/main">
            <a:pPr>
              <a:buNone/>
              <a:defRPr sz="2175" b="0">
                <a:solidFill>
                  <a:srgbClr val="496171"/>
                </a:solidFill>
                <a:latin typeface="Arial"/>
                <a:ea typeface="Arial"/>
                <a:cs typeface="Arial"/>
              </a:defRPr>
            </a:pPr>
            <a:r>
              <a:rPr sz="2175" b="0">
                <a:solidFill>
                  <a:srgbClr val="496171"/>
                </a:solidFill>
                <a:latin typeface="Arial"/>
                <a:ea typeface="Arial"/>
                <a:cs typeface="Arial"/>
              </a:rPr>
              <a:t>Daily prices: 2018–2025. Pooled test years: 2022–2025</a:t>
            </a:r>
          </a:p>
        </p:txBody>
      </p:sp>
      <p:graphicFrame>
        <p:nvGraphicFramePr>
          <p:cNvPr id="3" name="">
            <a:extLst xmlns:a="http://schemas.openxmlformats.org/drawingml/2006/main">
              <a:ext uri="{FF2B5EF4-FFF2-40B4-BE49-F238E27FC236}">
                <a16:creationId xmlns:a16="http://schemas.microsoft.com/office/drawing/2014/main" id="{13CBC4EB-AFA2-4099-B047-FD41E28D2EB1}"/>
              </a:ext>
            </a:extLst>
          </p:cNvPr>
          <p:cNvGraphicFramePr/>
          <p:nvPr/>
        </p:nvGraphicFramePr>
        <p:xfrm>
          <a:off xmlns:a="http://schemas.openxmlformats.org/drawingml/2006/main" x="609600" y="1809750"/>
          <a:ext xmlns:a="http://schemas.openxmlformats.org/drawingml/2006/main" cx="10972800" cy="2571750"/>
        </p:xfrm>
        <a:graphic xmlns:a="http://schemas.openxmlformats.org/drawingml/2006/main">
          <a:graphicData uri="http://schemas.openxmlformats.org/drawingml/2006/table">
            <a:tbl>
              <a:tblPr/>
              <a:tblGrid>
                <a:gridCol w="2762250"/>
                <a:gridCol w="2333625"/>
                <a:gridCol w="3095625"/>
                <a:gridCol w="2781300"/>
              </a:tblGrid>
              <a:tr h="642938">
                <a:tc>
                  <a:txBody>
                    <a:bodyPr/>
                    <a:lstStyle/>
                    <a:p>
                      <a:r>
                        <a:rPr sz="1875" b="1">
                          <a:solidFill>
                            <a:srgbClr val="FFFFFF"/>
                          </a:solidFill>
                          <a:latin typeface="Arial"/>
                          <a:ea typeface="Arial"/>
                          <a:cs typeface="Arial"/>
                        </a:rPr>
                        <a:t>Dataset</a:t>
                      </a:r>
                    </a:p>
                  </a:txBody>
                  <a:tcPr marL="152400" marR="114300" marT="133350" marB="95250" anchor="ctr">
                    <a:solidFill>
                      <a:srgbClr val="142D41"/>
                    </a:solidFill>
                  </a:tcPr>
                </a:tc>
                <a:tc>
                  <a:txBody>
                    <a:bodyPr/>
                    <a:lstStyle/>
                    <a:p>
                      <a:r>
                        <a:rPr sz="1875" b="1">
                          <a:solidFill>
                            <a:srgbClr val="FFFFFF"/>
                          </a:solidFill>
                          <a:latin typeface="Arial"/>
                          <a:ea typeface="Arial"/>
                          <a:cs typeface="Arial"/>
                        </a:rPr>
                        <a:t>Fixed sample</a:t>
                      </a:r>
                    </a:p>
                  </a:txBody>
                  <a:tcPr marL="152400" marR="114300" marT="133350" marB="95250" anchor="ctr">
                    <a:solidFill>
                      <a:srgbClr val="142D41"/>
                    </a:solidFill>
                  </a:tcPr>
                </a:tc>
                <a:tc>
                  <a:txBody>
                    <a:bodyPr/>
                    <a:lstStyle/>
                    <a:p>
                      <a:r>
                        <a:rPr sz="1875" b="1">
                          <a:solidFill>
                            <a:srgbClr val="FFFFFF"/>
                          </a:solidFill>
                          <a:latin typeface="Arial"/>
                          <a:ea typeface="Arial"/>
                          <a:cs typeface="Arial"/>
                        </a:rPr>
                        <a:t>Recovered histories</a:t>
                      </a:r>
                    </a:p>
                  </a:txBody>
                  <a:tcPr marL="152400" marR="114300" marT="133350" marB="95250" anchor="ctr">
                    <a:solidFill>
                      <a:srgbClr val="142D41"/>
                    </a:solidFill>
                  </a:tcPr>
                </a:tc>
                <a:tc>
                  <a:txBody>
                    <a:bodyPr/>
                    <a:lstStyle/>
                    <a:p>
                      <a:r>
                        <a:rPr sz="1875" b="1">
                          <a:solidFill>
                            <a:srgbClr val="FFFFFF"/>
                          </a:solidFill>
                          <a:latin typeface="Arial"/>
                          <a:ea typeface="Arial"/>
                          <a:cs typeface="Arial"/>
                        </a:rPr>
                        <a:t>Role</a:t>
                      </a:r>
                    </a:p>
                  </a:txBody>
                  <a:tcPr marL="152400" marR="114300" marT="133350" marB="95250" anchor="ctr">
                    <a:solidFill>
                      <a:srgbClr val="142D41"/>
                    </a:solidFill>
                  </a:tcPr>
                </a:tc>
              </a:tr>
              <a:tr h="642938">
                <a:tc>
                  <a:txBody>
                    <a:bodyPr/>
                    <a:lstStyle/>
                    <a:p>
                      <a:r>
                        <a:rPr sz="1875" b="0">
                          <a:solidFill>
                            <a:srgbClr val="142D41"/>
                          </a:solidFill>
                          <a:latin typeface="Arial"/>
                          <a:ea typeface="Arial"/>
                          <a:cs typeface="Arial"/>
                        </a:rPr>
                        <a:t>NYSE cohort</a:t>
                      </a:r>
                    </a:p>
                  </a:txBody>
                  <a:tcPr marL="152400" marR="114300" marT="133350" marB="95250" anchor="ctr">
                    <a:solidFill>
                      <a:srgbClr val="F2F6F8"/>
                    </a:solidFill>
                  </a:tcPr>
                </a:tc>
                <a:tc>
                  <a:txBody>
                    <a:bodyPr/>
                    <a:lstStyle/>
                    <a:p>
                      <a:r>
                        <a:rPr sz="1875" b="0">
                          <a:solidFill>
                            <a:srgbClr val="142D41"/>
                          </a:solidFill>
                          <a:latin typeface="Arial"/>
                          <a:ea typeface="Arial"/>
                          <a:cs typeface="Arial"/>
                        </a:rPr>
                        <a:t>100 securities</a:t>
                      </a:r>
                    </a:p>
                  </a:txBody>
                  <a:tcPr marL="152400" marR="114300" marT="133350" marB="95250" anchor="ctr">
                    <a:solidFill>
                      <a:srgbClr val="F2F6F8"/>
                    </a:solidFill>
                  </a:tcPr>
                </a:tc>
                <a:tc>
                  <a:txBody>
                    <a:bodyPr/>
                    <a:lstStyle/>
                    <a:p>
                      <a:r>
                        <a:rPr sz="1875" b="0">
                          <a:solidFill>
                            <a:srgbClr val="142D41"/>
                          </a:solidFill>
                          <a:latin typeface="Arial"/>
                          <a:ea typeface="Arial"/>
                          <a:cs typeface="Arial"/>
                        </a:rPr>
                        <a:t>68 original issuers</a:t>
                      </a:r>
                    </a:p>
                  </a:txBody>
                  <a:tcPr marL="152400" marR="114300" marT="133350" marB="95250" anchor="ctr">
                    <a:solidFill>
                      <a:srgbClr val="F2F6F8"/>
                    </a:solidFill>
                  </a:tcPr>
                </a:tc>
                <a:tc>
                  <a:txBody>
                    <a:bodyPr/>
                    <a:lstStyle/>
                    <a:p>
                      <a:r>
                        <a:rPr sz="1875" b="0">
                          <a:solidFill>
                            <a:srgbClr val="142D41"/>
                          </a:solidFill>
                          <a:latin typeface="Arial"/>
                          <a:ea typeface="Arial"/>
                          <a:cs typeface="Arial"/>
                        </a:rPr>
                        <a:t>Model development</a:t>
                      </a:r>
                    </a:p>
                  </a:txBody>
                  <a:tcPr marL="152400" marR="114300" marT="133350" marB="95250" anchor="ctr">
                    <a:solidFill>
                      <a:srgbClr val="F2F6F8"/>
                    </a:solidFill>
                  </a:tcPr>
                </a:tc>
              </a:tr>
              <a:tr h="642938">
                <a:tc>
                  <a:txBody>
                    <a:bodyPr/>
                    <a:lstStyle/>
                    <a:p>
                      <a:r>
                        <a:rPr sz="1875" b="0">
                          <a:solidFill>
                            <a:srgbClr val="142D41"/>
                          </a:solidFill>
                          <a:latin typeface="Arial"/>
                          <a:ea typeface="Arial"/>
                          <a:cs typeface="Arial"/>
                        </a:rPr>
                        <a:t>NASDAQ cohort</a:t>
                      </a:r>
                    </a:p>
                  </a:txBody>
                  <a:tcPr marL="152400" marR="114300" marT="133350" marB="95250" anchor="ctr">
                    <a:solidFill>
                      <a:srgbClr val="FFFFFF"/>
                    </a:solidFill>
                  </a:tcPr>
                </a:tc>
                <a:tc>
                  <a:txBody>
                    <a:bodyPr/>
                    <a:lstStyle/>
                    <a:p>
                      <a:r>
                        <a:rPr sz="1875" b="0">
                          <a:solidFill>
                            <a:srgbClr val="142D41"/>
                          </a:solidFill>
                          <a:latin typeface="Arial"/>
                          <a:ea typeface="Arial"/>
                          <a:cs typeface="Arial"/>
                        </a:rPr>
                        <a:t>100 securities</a:t>
                      </a:r>
                    </a:p>
                  </a:txBody>
                  <a:tcPr marL="152400" marR="114300" marT="133350" marB="95250" anchor="ctr">
                    <a:solidFill>
                      <a:srgbClr val="FFFFFF"/>
                    </a:solidFill>
                  </a:tcPr>
                </a:tc>
                <a:tc>
                  <a:txBody>
                    <a:bodyPr/>
                    <a:lstStyle/>
                    <a:p>
                      <a:r>
                        <a:rPr sz="1875" b="0">
                          <a:solidFill>
                            <a:srgbClr val="142D41"/>
                          </a:solidFill>
                          <a:latin typeface="Arial"/>
                          <a:ea typeface="Arial"/>
                          <a:cs typeface="Arial"/>
                        </a:rPr>
                        <a:t>67 original issuers</a:t>
                      </a:r>
                    </a:p>
                  </a:txBody>
                  <a:tcPr marL="152400" marR="114300" marT="133350" marB="95250" anchor="ctr">
                    <a:solidFill>
                      <a:srgbClr val="FFFFFF"/>
                    </a:solidFill>
                  </a:tcPr>
                </a:tc>
                <a:tc>
                  <a:txBody>
                    <a:bodyPr/>
                    <a:lstStyle/>
                    <a:p>
                      <a:r>
                        <a:rPr sz="1875" b="0">
                          <a:solidFill>
                            <a:srgbClr val="142D41"/>
                          </a:solidFill>
                          <a:latin typeface="Arial"/>
                          <a:ea typeface="Arial"/>
                          <a:cs typeface="Arial"/>
                        </a:rPr>
                        <a:t>Model development</a:t>
                      </a:r>
                    </a:p>
                  </a:txBody>
                  <a:tcPr marL="152400" marR="114300" marT="133350" marB="95250" anchor="ctr">
                    <a:solidFill>
                      <a:srgbClr val="FFFFFF"/>
                    </a:solidFill>
                  </a:tcPr>
                </a:tc>
              </a:tr>
              <a:tr h="642938">
                <a:tc>
                  <a:txBody>
                    <a:bodyPr/>
                    <a:lstStyle/>
                    <a:p>
                      <a:r>
                        <a:rPr sz="1875" b="0">
                          <a:solidFill>
                            <a:srgbClr val="142D41"/>
                          </a:solidFill>
                          <a:latin typeface="Arial"/>
                          <a:ea typeface="Arial"/>
                          <a:cs typeface="Arial"/>
                        </a:rPr>
                        <a:t>Cohort controls</a:t>
                      </a:r>
                    </a:p>
                  </a:txBody>
                  <a:tcPr marL="152400" marR="114300" marT="133350" marB="95250" anchor="ctr">
                    <a:solidFill>
                      <a:srgbClr val="F2F6F8"/>
                    </a:solidFill>
                  </a:tcPr>
                </a:tc>
                <a:tc>
                  <a:txBody>
                    <a:bodyPr/>
                    <a:lstStyle/>
                    <a:p>
                      <a:r>
                        <a:rPr sz="1875" b="0">
                          <a:solidFill>
                            <a:srgbClr val="142D41"/>
                          </a:solidFill>
                          <a:latin typeface="Arial"/>
                          <a:ea typeface="Arial"/>
                          <a:cs typeface="Arial"/>
                        </a:rPr>
                        <a:t>3 controls</a:t>
                      </a:r>
                    </a:p>
                  </a:txBody>
                  <a:tcPr marL="152400" marR="114300" marT="133350" marB="95250" anchor="ctr">
                    <a:solidFill>
                      <a:srgbClr val="F2F6F8"/>
                    </a:solidFill>
                  </a:tcPr>
                </a:tc>
                <a:tc>
                  <a:txBody>
                    <a:bodyPr/>
                    <a:lstStyle/>
                    <a:p>
                      <a:r>
                        <a:rPr sz="1875" b="0">
                          <a:solidFill>
                            <a:srgbClr val="142D41"/>
                          </a:solidFill>
                          <a:latin typeface="Arial"/>
                          <a:ea typeface="Arial"/>
                          <a:cs typeface="Arial"/>
                        </a:rPr>
                        <a:t>2022–2025</a:t>
                      </a:r>
                    </a:p>
                  </a:txBody>
                  <a:tcPr marL="152400" marR="114300" marT="133350" marB="95250" anchor="ctr">
                    <a:solidFill>
                      <a:srgbClr val="F2F6F8"/>
                    </a:solidFill>
                  </a:tcPr>
                </a:tc>
                <a:tc>
                  <a:txBody>
                    <a:bodyPr/>
                    <a:lstStyle/>
                    <a:p>
                      <a:r>
                        <a:rPr sz="1875" b="0">
                          <a:solidFill>
                            <a:srgbClr val="142D41"/>
                          </a:solidFill>
                          <a:latin typeface="Arial"/>
                          <a:ea typeface="Arial"/>
                          <a:cs typeface="Arial"/>
                        </a:rPr>
                        <a:t>Benchmark controls</a:t>
                      </a:r>
                    </a:p>
                  </a:txBody>
                  <a:tcPr marL="152400" marR="114300" marT="133350" marB="95250" anchor="ctr">
                    <a:solidFill>
                      <a:srgbClr val="F2F6F8"/>
                    </a:solidFill>
                  </a:tcPr>
                </a:tc>
              </a:tr>
            </a:tbl>
          </a:graphicData>
        </a:graphic>
      </p:graphicFrame>
      <p:sp>
        <p:nvSpPr>
          <p:cNvPr id="4" name="">
            <a:extLst xmlns:a="http://schemas.openxmlformats.org/drawingml/2006/main">
              <a:ext uri="{FF2B5EF4-FFF2-40B4-BE49-F238E27FC236}">
                <a16:creationId xmlns:a16="http://schemas.microsoft.com/office/drawing/2014/main" id="{25F384A1-EA57-40D1-A7B8-C93A9BE03E98}"/>
              </a:ext>
            </a:extLst>
          </p:cNvPr>
          <p:cNvSpPr>
            <a:spLocks xmlns:a="http://schemas.openxmlformats.org/drawingml/2006/main" noGrp="1"/>
          </p:cNvSpPr>
          <p:nvPr/>
        </p:nvSpPr>
        <p:spPr>
          <a:xfrm xmlns:a="http://schemas.openxmlformats.org/drawingml/2006/main">
            <a:off x="609600" y="46101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41"/>
                </a:solidFill>
                <a:latin typeface="Arial"/>
                <a:ea typeface="Arial"/>
                <a:cs typeface="Arial"/>
              </a:defRPr>
            </a:defPPr>
          </a:lstStyle>
          <a:p xmlns:a="http://schemas.openxmlformats.org/drawingml/2006/main">
            <a:pPr>
              <a:buNone/>
              <a:defRPr sz="1875" b="0">
                <a:solidFill>
                  <a:srgbClr val="142D41"/>
                </a:solidFill>
                <a:latin typeface="Arial"/>
                <a:ea typeface="Arial"/>
                <a:cs typeface="Arial"/>
              </a:defRPr>
            </a:pPr>
            <a:r>
              <a:rPr sz="1875" b="0">
                <a:solidFill>
                  <a:srgbClr val="142D41"/>
                </a:solidFill>
                <a:latin typeface="Arial"/>
                <a:ea typeface="Arial"/>
                <a:cs typeface="Arial"/>
              </a:rPr>
              <a:t>Yahoo Finance supplies prices through yfinance. We freeze the downloaded data and record file hashes for reproducibility.</a:t>
            </a:r>
          </a:p>
        </p:txBody>
      </p:sp>
      <p:sp>
        <p:nvSpPr>
          <p:cNvPr id="5" name="">
            <a:extLst xmlns:a="http://schemas.openxmlformats.org/drawingml/2006/main">
              <a:ext uri="{FF2B5EF4-FFF2-40B4-BE49-F238E27FC236}">
                <a16:creationId xmlns:a16="http://schemas.microsoft.com/office/drawing/2014/main" id="{38552CD8-7265-40D5-BC7B-CDA010D123AD}"/>
              </a:ext>
            </a:extLst>
          </p:cNvPr>
          <p:cNvSpPr>
            <a:spLocks xmlns:a="http://schemas.openxmlformats.org/drawingml/2006/main" noGrp="1"/>
          </p:cNvSpPr>
          <p:nvPr/>
        </p:nvSpPr>
        <p:spPr>
          <a:xfrm xmlns:a="http://schemas.openxmlformats.org/drawingml/2006/main">
            <a:off x="609600" y="5476875"/>
            <a:ext cx="200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007D83"/>
                </a:solidFill>
                <a:latin typeface="Arial"/>
                <a:ea typeface="Arial"/>
                <a:cs typeface="Arial"/>
              </a:defRPr>
            </a:defPPr>
          </a:lstStyle>
          <a:p xmlns:a="http://schemas.openxmlformats.org/drawingml/2006/main">
            <a:pPr>
              <a:buNone/>
              <a:defRPr sz="1725" b="0">
                <a:solidFill>
                  <a:srgbClr val="007D83"/>
                </a:solidFill>
                <a:latin typeface="Arial"/>
                <a:ea typeface="Arial"/>
                <a:cs typeface="Arial"/>
              </a:defRPr>
            </a:pPr>
            <a:r>
              <a:rPr sz="1725" b="0" u="sng">
                <a:solidFill>
                  <a:srgbClr val="007D83"/>
                </a:solidFill>
                <a:latin typeface="Arial"/>
                <a:ea typeface="Arial"/>
                <a:cs typeface="Arial"/>
                <a:hlinkClick xmlns:r="http://schemas.openxmlformats.org/officeDocument/2006/relationships" r:id="R6f1c6e62849e42a0"/>
              </a:rPr>
              <a:t>Yahoo Finance</a:t>
            </a:r>
          </a:p>
        </p:txBody>
      </p:sp>
      <p:sp>
        <p:nvSpPr>
          <p:cNvPr id="6" name="">
            <a:extLst xmlns:a="http://schemas.openxmlformats.org/drawingml/2006/main">
              <a:ext uri="{FF2B5EF4-FFF2-40B4-BE49-F238E27FC236}">
                <a16:creationId xmlns:a16="http://schemas.microsoft.com/office/drawing/2014/main" id="{87798774-38CE-4A08-B1BE-41C8E482233E}"/>
              </a:ext>
            </a:extLst>
          </p:cNvPr>
          <p:cNvSpPr>
            <a:spLocks xmlns:a="http://schemas.openxmlformats.org/drawingml/2006/main" noGrp="1"/>
          </p:cNvSpPr>
          <p:nvPr/>
        </p:nvSpPr>
        <p:spPr>
          <a:xfrm xmlns:a="http://schemas.openxmlformats.org/drawingml/2006/main">
            <a:off x="2809875" y="5476875"/>
            <a:ext cx="295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007D83"/>
                </a:solidFill>
                <a:latin typeface="Arial"/>
                <a:ea typeface="Arial"/>
                <a:cs typeface="Arial"/>
              </a:defRPr>
            </a:defPPr>
          </a:lstStyle>
          <a:p xmlns:a="http://schemas.openxmlformats.org/drawingml/2006/main">
            <a:pPr>
              <a:buNone/>
              <a:defRPr sz="1725" b="0">
                <a:solidFill>
                  <a:srgbClr val="007D83"/>
                </a:solidFill>
                <a:latin typeface="Arial"/>
                <a:ea typeface="Arial"/>
                <a:cs typeface="Arial"/>
              </a:defRPr>
            </a:pPr>
            <a:r>
              <a:rPr sz="1725" b="0" u="sng">
                <a:solidFill>
                  <a:srgbClr val="007D83"/>
                </a:solidFill>
                <a:latin typeface="Arial"/>
                <a:ea typeface="Arial"/>
                <a:cs typeface="Arial"/>
                <a:hlinkClick xmlns:r="http://schemas.openxmlformats.org/officeDocument/2006/relationships" r:id="R281cdaf21b9f467c"/>
              </a:rPr>
              <a:t>yfinance documentation</a:t>
            </a:r>
          </a:p>
        </p:txBody>
      </p:sp>
      <p:sp>
        <p:nvSpPr>
          <p:cNvPr id="7" name="">
            <a:extLst xmlns:a="http://schemas.openxmlformats.org/drawingml/2006/main">
              <a:ext uri="{FF2B5EF4-FFF2-40B4-BE49-F238E27FC236}">
                <a16:creationId xmlns:a16="http://schemas.microsoft.com/office/drawing/2014/main" id="{1C200EB7-3F94-4530-9B79-E2E566173AB4}"/>
              </a:ext>
            </a:extLst>
          </p:cNvPr>
          <p:cNvSpPr>
            <a:spLocks xmlns:a="http://schemas.openxmlformats.org/drawingml/2006/main" noGrp="1"/>
          </p:cNvSpPr>
          <p:nvPr/>
        </p:nvSpPr>
        <p:spPr>
          <a:xfrm xmlns:a="http://schemas.openxmlformats.org/drawingml/2006/main">
            <a:off x="6191250" y="5476875"/>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007D83"/>
                </a:solidFill>
                <a:latin typeface="Arial"/>
                <a:ea typeface="Arial"/>
                <a:cs typeface="Arial"/>
              </a:defRPr>
            </a:defPPr>
          </a:lstStyle>
          <a:p xmlns:a="http://schemas.openxmlformats.org/drawingml/2006/main">
            <a:pPr>
              <a:buNone/>
              <a:defRPr sz="1725" b="0">
                <a:solidFill>
                  <a:srgbClr val="007D83"/>
                </a:solidFill>
                <a:latin typeface="Arial"/>
                <a:ea typeface="Arial"/>
                <a:cs typeface="Arial"/>
              </a:defRPr>
            </a:pPr>
            <a:r>
              <a:rPr sz="1725" b="0" u="sng">
                <a:solidFill>
                  <a:srgbClr val="007D83"/>
                </a:solidFill>
                <a:latin typeface="Arial"/>
                <a:ea typeface="Arial"/>
                <a:cs typeface="Arial"/>
                <a:hlinkClick xmlns:r="http://schemas.openxmlformats.org/officeDocument/2006/relationships" r:id="R59936c6b23294ce8"/>
              </a:rPr>
              <a:t>Original cohort / data repository</a:t>
            </a:r>
          </a:p>
        </p:txBody>
      </p:sp>
      <p:sp>
        <p:nvSpPr>
          <p:cNvPr id="8" name="">
            <a:extLst xmlns:a="http://schemas.openxmlformats.org/drawingml/2006/main">
              <a:ext uri="{FF2B5EF4-FFF2-40B4-BE49-F238E27FC236}">
                <a16:creationId xmlns:a16="http://schemas.microsoft.com/office/drawing/2014/main" id="{3E45F58B-9396-4E35-B5CA-F5CC3D2233E6}"/>
              </a:ext>
            </a:extLst>
          </p:cNvPr>
          <p:cNvSpPr>
            <a:spLocks xmlns:a="http://schemas.openxmlformats.org/drawingml/2006/main" noGrp="1"/>
          </p:cNvSpPr>
          <p:nvPr/>
        </p:nvSpPr>
        <p:spPr>
          <a:xfrm xmlns:a="http://schemas.openxmlformats.org/drawingml/2006/main">
            <a:off x="609600" y="605790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496171"/>
                </a:solidFill>
                <a:latin typeface="Arial"/>
                <a:ea typeface="Arial"/>
                <a:cs typeface="Arial"/>
              </a:defRPr>
            </a:defPPr>
          </a:lstStyle>
          <a:p xmlns:a="http://schemas.openxmlformats.org/drawingml/2006/main">
            <a:pPr>
              <a:buNone/>
              <a:defRPr sz="1725" b="0">
                <a:solidFill>
                  <a:srgbClr val="496171"/>
                </a:solidFill>
                <a:latin typeface="Arial"/>
                <a:ea typeface="Arial"/>
                <a:cs typeface="Arial"/>
              </a:defRPr>
            </a:pPr>
            <a:r>
              <a:rPr sz="1725" b="0">
                <a:solidFill>
                  <a:srgbClr val="496171"/>
                </a:solidFill>
                <a:latin typeface="Arial"/>
                <a:ea typeface="Arial"/>
                <a:cs typeface="Arial"/>
              </a:rPr>
              <a:t>We pool annual test returns within each cohort. NYSE and NASDAQ remain separate datasets.</a:t>
            </a:r>
          </a:p>
        </p:txBody>
      </p:sp>
    </p:spTree>
    <p:extLst>
      <p:ext uri="{BB962C8B-B14F-4D97-AF65-F5344CB8AC3E}">
        <p14:creationId xmlns:p14="http://schemas.microsoft.com/office/powerpoint/2010/main" val="44911580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EDFED1D-B95A-4642-8A34-2DDD7DA7472F}"/>
              </a:ext>
            </a:extLst>
          </p:cNvPr>
          <p:cNvSpPr>
            <a:spLocks xmlns:a="http://schemas.openxmlformats.org/drawingml/2006/main" noGrp="1"/>
          </p:cNvSpPr>
          <p:nvPr/>
        </p:nvSpPr>
        <p:spPr>
          <a:xfrm xmlns:a="http://schemas.openxmlformats.org/drawingml/2006/main">
            <a:off x="609600" y="409575"/>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42D41"/>
                </a:solidFill>
                <a:latin typeface="Arial"/>
                <a:ea typeface="Arial"/>
                <a:cs typeface="Arial"/>
              </a:defRPr>
            </a:defPPr>
          </a:lstStyle>
          <a:p xmlns:a="http://schemas.openxmlformats.org/drawingml/2006/main">
            <a:pPr>
              <a:buNone/>
              <a:defRPr sz="3300" b="1">
                <a:solidFill>
                  <a:srgbClr val="142D41"/>
                </a:solidFill>
                <a:latin typeface="Arial"/>
                <a:ea typeface="Arial"/>
                <a:cs typeface="Arial"/>
              </a:defRPr>
            </a:pPr>
            <a:r>
              <a:rPr sz="3300" b="1">
                <a:solidFill>
                  <a:srgbClr val="142D41"/>
                </a:solidFill>
                <a:latin typeface="Arial"/>
                <a:ea typeface="Arial"/>
                <a:cs typeface="Arial"/>
              </a:rPr>
              <a:t>Chronological training, validation and testing</a:t>
            </a:r>
          </a:p>
        </p:txBody>
      </p:sp>
      <p:sp>
        <p:nvSpPr>
          <p:cNvPr id="2" name="">
            <a:extLst xmlns:a="http://schemas.openxmlformats.org/drawingml/2006/main">
              <a:ext uri="{FF2B5EF4-FFF2-40B4-BE49-F238E27FC236}">
                <a16:creationId xmlns:a16="http://schemas.microsoft.com/office/drawing/2014/main" id="{B9D8A4EF-DEC9-45F4-8BB3-B79B8D8109A7}"/>
              </a:ext>
            </a:extLst>
          </p:cNvPr>
          <p:cNvSpPr>
            <a:spLocks xmlns:a="http://schemas.openxmlformats.org/drawingml/2006/main" noGrp="1"/>
          </p:cNvSpPr>
          <p:nvPr/>
        </p:nvSpPr>
        <p:spPr>
          <a:xfrm xmlns:a="http://schemas.openxmlformats.org/drawingml/2006/main">
            <a:off x="609600" y="11525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496171"/>
                </a:solidFill>
                <a:latin typeface="Arial"/>
                <a:ea typeface="Arial"/>
                <a:cs typeface="Arial"/>
              </a:defRPr>
            </a:defPPr>
          </a:lstStyle>
          <a:p xmlns:a="http://schemas.openxmlformats.org/drawingml/2006/main">
            <a:pPr>
              <a:buNone/>
              <a:defRPr sz="2025" b="0">
                <a:solidFill>
                  <a:srgbClr val="496171"/>
                </a:solidFill>
                <a:latin typeface="Arial"/>
                <a:ea typeface="Arial"/>
                <a:cs typeface="Arial"/>
              </a:defRPr>
            </a:pPr>
            <a:r>
              <a:rPr sz="2025" b="0">
                <a:solidFill>
                  <a:srgbClr val="496171"/>
                </a:solidFill>
                <a:latin typeface="Arial"/>
                <a:ea typeface="Arial"/>
                <a:cs typeface="Arial"/>
              </a:rPr>
              <a:t>Four annual test windows, with one-year validation before each test</a:t>
            </a:r>
          </a:p>
        </p:txBody>
      </p:sp>
      <p:graphicFrame>
        <p:nvGraphicFramePr>
          <p:cNvPr id="3" name="">
            <a:extLst xmlns:a="http://schemas.openxmlformats.org/drawingml/2006/main">
              <a:ext uri="{FF2B5EF4-FFF2-40B4-BE49-F238E27FC236}">
                <a16:creationId xmlns:a16="http://schemas.microsoft.com/office/drawing/2014/main" id="{CC4390D5-43C5-4F3A-BF5B-4695CC8451B0}"/>
              </a:ext>
            </a:extLst>
          </p:cNvPr>
          <p:cNvGraphicFramePr/>
          <p:nvPr/>
        </p:nvGraphicFramePr>
        <p:xfrm>
          <a:off xmlns:a="http://schemas.openxmlformats.org/drawingml/2006/main" x="609600" y="1800225"/>
          <a:ext xmlns:a="http://schemas.openxmlformats.org/drawingml/2006/main" cx="10972800" cy="2914650"/>
        </p:xfrm>
        <a:graphic xmlns:a="http://schemas.openxmlformats.org/drawingml/2006/main">
          <a:graphicData uri="http://schemas.openxmlformats.org/drawingml/2006/table">
            <a:tbl>
              <a:tblPr/>
              <a:tblGrid>
                <a:gridCol w="4876800"/>
                <a:gridCol w="3048000"/>
                <a:gridCol w="3048000"/>
              </a:tblGrid>
              <a:tr h="582930">
                <a:tc>
                  <a:txBody>
                    <a:bodyPr/>
                    <a:lstStyle/>
                    <a:p>
                      <a:r>
                        <a:rPr sz="1875" b="1">
                          <a:solidFill>
                            <a:srgbClr val="FFFFFF"/>
                          </a:solidFill>
                          <a:latin typeface="Arial"/>
                          <a:ea typeface="Arial"/>
                          <a:cs typeface="Arial"/>
                        </a:rPr>
                        <a:t>Training signals*</a:t>
                      </a:r>
                    </a:p>
                  </a:txBody>
                  <a:tcPr marL="152400" marR="114300" marT="133350" marB="95250" anchor="ctr">
                    <a:solidFill>
                      <a:srgbClr val="142D41"/>
                    </a:solidFill>
                  </a:tcPr>
                </a:tc>
                <a:tc>
                  <a:txBody>
                    <a:bodyPr/>
                    <a:lstStyle/>
                    <a:p>
                      <a:r>
                        <a:rPr sz="1875" b="1">
                          <a:solidFill>
                            <a:srgbClr val="FFFFFF"/>
                          </a:solidFill>
                          <a:latin typeface="Arial"/>
                          <a:ea typeface="Arial"/>
                          <a:cs typeface="Arial"/>
                        </a:rPr>
                        <a:t>Validation</a:t>
                      </a:r>
                    </a:p>
                  </a:txBody>
                  <a:tcPr marL="152400" marR="114300" marT="133350" marB="95250" anchor="ctr">
                    <a:solidFill>
                      <a:srgbClr val="142D41"/>
                    </a:solidFill>
                  </a:tcPr>
                </a:tc>
                <a:tc>
                  <a:txBody>
                    <a:bodyPr/>
                    <a:lstStyle/>
                    <a:p>
                      <a:r>
                        <a:rPr sz="1875" b="1">
                          <a:solidFill>
                            <a:srgbClr val="FFFFFF"/>
                          </a:solidFill>
                          <a:latin typeface="Arial"/>
                          <a:ea typeface="Arial"/>
                          <a:cs typeface="Arial"/>
                        </a:rPr>
                        <a:t>Test</a:t>
                      </a:r>
                    </a:p>
                  </a:txBody>
                  <a:tcPr marL="152400" marR="114300" marT="133350" marB="95250" anchor="ctr">
                    <a:solidFill>
                      <a:srgbClr val="142D41"/>
                    </a:solidFill>
                  </a:tcPr>
                </a:tc>
              </a:tr>
              <a:tr h="582930">
                <a:tc>
                  <a:txBody>
                    <a:bodyPr/>
                    <a:lstStyle/>
                    <a:p>
                      <a:r>
                        <a:rPr sz="1875" b="0">
                          <a:solidFill>
                            <a:srgbClr val="142D41"/>
                          </a:solidFill>
                          <a:latin typeface="Arial"/>
                          <a:ea typeface="Arial"/>
                          <a:cs typeface="Arial"/>
                        </a:rPr>
                        <a:t>2019–2020</a:t>
                      </a:r>
                    </a:p>
                  </a:txBody>
                  <a:tcPr marL="152400" marR="114300" marT="133350" marB="95250" anchor="ctr">
                    <a:solidFill>
                      <a:srgbClr val="F2F6F8"/>
                    </a:solidFill>
                  </a:tcPr>
                </a:tc>
                <a:tc>
                  <a:txBody>
                    <a:bodyPr/>
                    <a:lstStyle/>
                    <a:p>
                      <a:r>
                        <a:rPr sz="1875" b="0">
                          <a:solidFill>
                            <a:srgbClr val="142D41"/>
                          </a:solidFill>
                          <a:latin typeface="Arial"/>
                          <a:ea typeface="Arial"/>
                          <a:cs typeface="Arial"/>
                        </a:rPr>
                        <a:t>2021</a:t>
                      </a:r>
                    </a:p>
                  </a:txBody>
                  <a:tcPr marL="152400" marR="114300" marT="133350" marB="95250" anchor="ctr">
                    <a:solidFill>
                      <a:srgbClr val="F2F6F8"/>
                    </a:solidFill>
                  </a:tcPr>
                </a:tc>
                <a:tc>
                  <a:txBody>
                    <a:bodyPr/>
                    <a:lstStyle/>
                    <a:p>
                      <a:r>
                        <a:rPr sz="1875" b="0">
                          <a:solidFill>
                            <a:srgbClr val="142D41"/>
                          </a:solidFill>
                          <a:latin typeface="Arial"/>
                          <a:ea typeface="Arial"/>
                          <a:cs typeface="Arial"/>
                        </a:rPr>
                        <a:t>2022</a:t>
                      </a:r>
                    </a:p>
                  </a:txBody>
                  <a:tcPr marL="152400" marR="114300" marT="133350" marB="95250" anchor="ctr">
                    <a:solidFill>
                      <a:srgbClr val="F2F6F8"/>
                    </a:solidFill>
                  </a:tcPr>
                </a:tc>
              </a:tr>
              <a:tr h="582930">
                <a:tc>
                  <a:txBody>
                    <a:bodyPr/>
                    <a:lstStyle/>
                    <a:p>
                      <a:r>
                        <a:rPr sz="1875" b="0">
                          <a:solidFill>
                            <a:srgbClr val="142D41"/>
                          </a:solidFill>
                          <a:latin typeface="Arial"/>
                          <a:ea typeface="Arial"/>
                          <a:cs typeface="Arial"/>
                        </a:rPr>
                        <a:t>2019–2021</a:t>
                      </a:r>
                    </a:p>
                  </a:txBody>
                  <a:tcPr marL="152400" marR="114300" marT="133350" marB="95250" anchor="ctr">
                    <a:solidFill>
                      <a:srgbClr val="FFFFFF"/>
                    </a:solidFill>
                  </a:tcPr>
                </a:tc>
                <a:tc>
                  <a:txBody>
                    <a:bodyPr/>
                    <a:lstStyle/>
                    <a:p>
                      <a:r>
                        <a:rPr sz="1875" b="0">
                          <a:solidFill>
                            <a:srgbClr val="142D41"/>
                          </a:solidFill>
                          <a:latin typeface="Arial"/>
                          <a:ea typeface="Arial"/>
                          <a:cs typeface="Arial"/>
                        </a:rPr>
                        <a:t>2022</a:t>
                      </a:r>
                    </a:p>
                  </a:txBody>
                  <a:tcPr marL="152400" marR="114300" marT="133350" marB="95250" anchor="ctr">
                    <a:solidFill>
                      <a:srgbClr val="FFFFFF"/>
                    </a:solidFill>
                  </a:tcPr>
                </a:tc>
                <a:tc>
                  <a:txBody>
                    <a:bodyPr/>
                    <a:lstStyle/>
                    <a:p>
                      <a:r>
                        <a:rPr sz="1875" b="0">
                          <a:solidFill>
                            <a:srgbClr val="142D41"/>
                          </a:solidFill>
                          <a:latin typeface="Arial"/>
                          <a:ea typeface="Arial"/>
                          <a:cs typeface="Arial"/>
                        </a:rPr>
                        <a:t>2023</a:t>
                      </a:r>
                    </a:p>
                  </a:txBody>
                  <a:tcPr marL="152400" marR="114300" marT="133350" marB="95250" anchor="ctr">
                    <a:solidFill>
                      <a:srgbClr val="FFFFFF"/>
                    </a:solidFill>
                  </a:tcPr>
                </a:tc>
              </a:tr>
              <a:tr h="582930">
                <a:tc>
                  <a:txBody>
                    <a:bodyPr/>
                    <a:lstStyle/>
                    <a:p>
                      <a:r>
                        <a:rPr sz="1875" b="0">
                          <a:solidFill>
                            <a:srgbClr val="142D41"/>
                          </a:solidFill>
                          <a:latin typeface="Arial"/>
                          <a:ea typeface="Arial"/>
                          <a:cs typeface="Arial"/>
                        </a:rPr>
                        <a:t>2019–2022</a:t>
                      </a:r>
                    </a:p>
                  </a:txBody>
                  <a:tcPr marL="152400" marR="114300" marT="133350" marB="95250" anchor="ctr">
                    <a:solidFill>
                      <a:srgbClr val="F2F6F8"/>
                    </a:solidFill>
                  </a:tcPr>
                </a:tc>
                <a:tc>
                  <a:txBody>
                    <a:bodyPr/>
                    <a:lstStyle/>
                    <a:p>
                      <a:r>
                        <a:rPr sz="1875" b="0">
                          <a:solidFill>
                            <a:srgbClr val="142D41"/>
                          </a:solidFill>
                          <a:latin typeface="Arial"/>
                          <a:ea typeface="Arial"/>
                          <a:cs typeface="Arial"/>
                        </a:rPr>
                        <a:t>2023</a:t>
                      </a:r>
                    </a:p>
                  </a:txBody>
                  <a:tcPr marL="152400" marR="114300" marT="133350" marB="95250" anchor="ctr">
                    <a:solidFill>
                      <a:srgbClr val="F2F6F8"/>
                    </a:solidFill>
                  </a:tcPr>
                </a:tc>
                <a:tc>
                  <a:txBody>
                    <a:bodyPr/>
                    <a:lstStyle/>
                    <a:p>
                      <a:r>
                        <a:rPr sz="1875" b="0">
                          <a:solidFill>
                            <a:srgbClr val="142D41"/>
                          </a:solidFill>
                          <a:latin typeface="Arial"/>
                          <a:ea typeface="Arial"/>
                          <a:cs typeface="Arial"/>
                        </a:rPr>
                        <a:t>2024</a:t>
                      </a:r>
                    </a:p>
                  </a:txBody>
                  <a:tcPr marL="152400" marR="114300" marT="133350" marB="95250" anchor="ctr">
                    <a:solidFill>
                      <a:srgbClr val="F2F6F8"/>
                    </a:solidFill>
                  </a:tcPr>
                </a:tc>
              </a:tr>
              <a:tr h="582930">
                <a:tc>
                  <a:txBody>
                    <a:bodyPr/>
                    <a:lstStyle/>
                    <a:p>
                      <a:r>
                        <a:rPr sz="1875" b="0">
                          <a:solidFill>
                            <a:srgbClr val="142D41"/>
                          </a:solidFill>
                          <a:latin typeface="Arial"/>
                          <a:ea typeface="Arial"/>
                          <a:cs typeface="Arial"/>
                        </a:rPr>
                        <a:t>2020–2023</a:t>
                      </a:r>
                    </a:p>
                  </a:txBody>
                  <a:tcPr marL="152400" marR="114300" marT="133350" marB="95250" anchor="ctr">
                    <a:solidFill>
                      <a:srgbClr val="FFFFFF"/>
                    </a:solidFill>
                  </a:tcPr>
                </a:tc>
                <a:tc>
                  <a:txBody>
                    <a:bodyPr/>
                    <a:lstStyle/>
                    <a:p>
                      <a:r>
                        <a:rPr sz="1875" b="0">
                          <a:solidFill>
                            <a:srgbClr val="142D41"/>
                          </a:solidFill>
                          <a:latin typeface="Arial"/>
                          <a:ea typeface="Arial"/>
                          <a:cs typeface="Arial"/>
                        </a:rPr>
                        <a:t>2024</a:t>
                      </a:r>
                    </a:p>
                  </a:txBody>
                  <a:tcPr marL="152400" marR="114300" marT="133350" marB="95250" anchor="ctr">
                    <a:solidFill>
                      <a:srgbClr val="FFFFFF"/>
                    </a:solidFill>
                  </a:tcPr>
                </a:tc>
                <a:tc>
                  <a:txBody>
                    <a:bodyPr/>
                    <a:lstStyle/>
                    <a:p>
                      <a:r>
                        <a:rPr sz="1875" b="0">
                          <a:solidFill>
                            <a:srgbClr val="142D41"/>
                          </a:solidFill>
                          <a:latin typeface="Arial"/>
                          <a:ea typeface="Arial"/>
                          <a:cs typeface="Arial"/>
                        </a:rPr>
                        <a:t>2025</a:t>
                      </a:r>
                    </a:p>
                  </a:txBody>
                  <a:tcPr marL="152400" marR="114300" marT="133350" marB="952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70FBA7F-2763-462B-849D-B4C88548E862}"/>
              </a:ext>
            </a:extLst>
          </p:cNvPr>
          <p:cNvSpPr>
            <a:spLocks xmlns:a="http://schemas.openxmlformats.org/drawingml/2006/main" noGrp="1"/>
          </p:cNvSpPr>
          <p:nvPr/>
        </p:nvSpPr>
        <p:spPr>
          <a:xfrm xmlns:a="http://schemas.openxmlformats.org/drawingml/2006/main">
            <a:off x="609600" y="4953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41"/>
                </a:solidFill>
                <a:latin typeface="Arial"/>
                <a:ea typeface="Arial"/>
                <a:cs typeface="Arial"/>
              </a:defRPr>
            </a:defPPr>
          </a:lstStyle>
          <a:p xmlns:a="http://schemas.openxmlformats.org/drawingml/2006/main">
            <a:pPr>
              <a:buNone/>
              <a:defRPr sz="1875" b="0">
                <a:solidFill>
                  <a:srgbClr val="142D41"/>
                </a:solidFill>
                <a:latin typeface="Arial"/>
                <a:ea typeface="Arial"/>
                <a:cs typeface="Arial"/>
              </a:defRPr>
            </a:pPr>
            <a:r>
              <a:rPr sz="1875" b="0">
                <a:solidFill>
                  <a:srgbClr val="142D41"/>
                </a:solidFill>
                <a:latin typeface="Arial"/>
                <a:ea typeface="Arial"/>
                <a:cs typeface="Arial"/>
              </a:rPr>
              <a:t>Each test year uses a newly fitted model. Training labels mature before validation, and validation labels mature before testing.</a:t>
            </a:r>
          </a:p>
        </p:txBody>
      </p:sp>
      <p:sp>
        <p:nvSpPr>
          <p:cNvPr id="5" name="">
            <a:extLst xmlns:a="http://schemas.openxmlformats.org/drawingml/2006/main">
              <a:ext uri="{FF2B5EF4-FFF2-40B4-BE49-F238E27FC236}">
                <a16:creationId xmlns:a16="http://schemas.microsoft.com/office/drawing/2014/main" id="{465B2CA9-1747-4460-A935-94244B598D2B}"/>
              </a:ext>
            </a:extLst>
          </p:cNvPr>
          <p:cNvSpPr>
            <a:spLocks xmlns:a="http://schemas.openxmlformats.org/drawingml/2006/main" noGrp="1"/>
          </p:cNvSpPr>
          <p:nvPr/>
        </p:nvSpPr>
        <p:spPr>
          <a:xfrm xmlns:a="http://schemas.openxmlformats.org/drawingml/2006/main">
            <a:off x="609600" y="5886450"/>
            <a:ext cx="109728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496171"/>
                </a:solidFill>
                <a:latin typeface="Arial"/>
                <a:ea typeface="Arial"/>
                <a:cs typeface="Arial"/>
              </a:defRPr>
            </a:defPPr>
          </a:lstStyle>
          <a:p xmlns:a="http://schemas.openxmlformats.org/drawingml/2006/main">
            <a:pPr>
              <a:buNone/>
              <a:defRPr sz="1725" b="0">
                <a:solidFill>
                  <a:srgbClr val="496171"/>
                </a:solidFill>
                <a:latin typeface="Arial"/>
                <a:ea typeface="Arial"/>
                <a:cs typeface="Arial"/>
              </a:defRPr>
            </a:pPr>
            <a:r>
              <a:rPr sz="1725" b="0">
                <a:solidFill>
                  <a:srgbClr val="496171"/>
                </a:solidFill>
                <a:latin typeface="Arial"/>
                <a:ea typeface="Arial"/>
                <a:cs typeface="Arial"/>
              </a:rPr>
              <a:t>*Prices begin in 2018. A 260-session warmup moves the first training signal to January 15, 2019. We purge labels that cross split boundaries and never shuffle time.</a:t>
            </a:r>
          </a:p>
        </p:txBody>
      </p:sp>
    </p:spTree>
    <p:extLst>
      <p:ext uri="{BB962C8B-B14F-4D97-AF65-F5344CB8AC3E}">
        <p14:creationId xmlns:p14="http://schemas.microsoft.com/office/powerpoint/2010/main" val="134727923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5E8AAD4-662A-4251-AC4B-B08F042B9FE0}"/>
              </a:ext>
            </a:extLst>
          </p:cNvPr>
          <p:cNvSpPr>
            <a:spLocks xmlns:a="http://schemas.openxmlformats.org/drawingml/2006/main" noGrp="1"/>
          </p:cNvSpPr>
          <p:nvPr/>
        </p:nvSpPr>
        <p:spPr>
          <a:xfrm xmlns:a="http://schemas.openxmlformats.org/drawingml/2006/main">
            <a:off x="609600" y="409575"/>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42D41"/>
                </a:solidFill>
                <a:latin typeface="Arial"/>
                <a:ea typeface="Arial"/>
                <a:cs typeface="Arial"/>
              </a:defRPr>
            </a:defPPr>
          </a:lstStyle>
          <a:p xmlns:a="http://schemas.openxmlformats.org/drawingml/2006/main">
            <a:pPr>
              <a:buNone/>
              <a:defRPr sz="3300" b="1">
                <a:solidFill>
                  <a:srgbClr val="142D41"/>
                </a:solidFill>
                <a:latin typeface="Arial"/>
                <a:ea typeface="Arial"/>
                <a:cs typeface="Arial"/>
              </a:defRPr>
            </a:pPr>
            <a:r>
              <a:rPr sz="3300" b="1">
                <a:solidFill>
                  <a:srgbClr val="142D41"/>
                </a:solidFill>
                <a:latin typeface="Arial"/>
                <a:ea typeface="Arial"/>
                <a:cs typeface="Arial"/>
              </a:rPr>
              <a:t>Model inputs and data limitations</a:t>
            </a:r>
          </a:p>
        </p:txBody>
      </p:sp>
      <p:sp>
        <p:nvSpPr>
          <p:cNvPr id="2" name="">
            <a:extLst xmlns:a="http://schemas.openxmlformats.org/drawingml/2006/main">
              <a:ext uri="{FF2B5EF4-FFF2-40B4-BE49-F238E27FC236}">
                <a16:creationId xmlns:a16="http://schemas.microsoft.com/office/drawing/2014/main" id="{F9C6C11A-2093-45AF-9437-54CFEC91445F}"/>
              </a:ext>
            </a:extLst>
          </p:cNvPr>
          <p:cNvSpPr>
            <a:spLocks xmlns:a="http://schemas.openxmlformats.org/drawingml/2006/main" noGrp="1"/>
          </p:cNvSpPr>
          <p:nvPr/>
        </p:nvSpPr>
        <p:spPr>
          <a:xfrm xmlns:a="http://schemas.openxmlformats.org/drawingml/2006/main">
            <a:off x="609600" y="133350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007D83"/>
                </a:solidFill>
                <a:latin typeface="Arial"/>
                <a:ea typeface="Arial"/>
                <a:cs typeface="Arial"/>
              </a:defRPr>
            </a:defPPr>
          </a:lstStyle>
          <a:p xmlns:a="http://schemas.openxmlformats.org/drawingml/2006/main">
            <a:pPr>
              <a:buNone/>
              <a:defRPr sz="2175" b="1">
                <a:solidFill>
                  <a:srgbClr val="007D83"/>
                </a:solidFill>
                <a:latin typeface="Arial"/>
                <a:ea typeface="Arial"/>
                <a:cs typeface="Arial"/>
              </a:defRPr>
            </a:pPr>
            <a:r>
              <a:rPr sz="2175" b="1">
                <a:solidFill>
                  <a:srgbClr val="007D83"/>
                </a:solidFill>
                <a:latin typeface="Arial"/>
                <a:ea typeface="Arial"/>
                <a:cs typeface="Arial"/>
              </a:rPr>
              <a:t>Input per security</a:t>
            </a:r>
          </a:p>
        </p:txBody>
      </p:sp>
      <p:sp>
        <p:nvSpPr>
          <p:cNvPr id="3" name="">
            <a:extLst xmlns:a="http://schemas.openxmlformats.org/drawingml/2006/main">
              <a:ext uri="{FF2B5EF4-FFF2-40B4-BE49-F238E27FC236}">
                <a16:creationId xmlns:a16="http://schemas.microsoft.com/office/drawing/2014/main" id="{40D05D68-F573-425F-9DB4-13E4B3C1874F}"/>
              </a:ext>
            </a:extLst>
          </p:cNvPr>
          <p:cNvSpPr>
            <a:spLocks xmlns:a="http://schemas.openxmlformats.org/drawingml/2006/main" noGrp="1"/>
          </p:cNvSpPr>
          <p:nvPr/>
        </p:nvSpPr>
        <p:spPr>
          <a:xfrm xmlns:a="http://schemas.openxmlformats.org/drawingml/2006/main">
            <a:off x="609600" y="1838325"/>
            <a:ext cx="525780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142D41"/>
                </a:solidFill>
                <a:latin typeface="Arial"/>
                <a:ea typeface="Arial"/>
                <a:cs typeface="Arial"/>
              </a:defRPr>
            </a:defPPr>
          </a:lstStyle>
          <a:p xmlns:a="http://schemas.openxmlformats.org/drawingml/2006/main">
            <a:pPr>
              <a:buNone/>
              <a:defRPr sz="1950" b="0">
                <a:solidFill>
                  <a:srgbClr val="142D41"/>
                </a:solidFill>
                <a:latin typeface="Arial"/>
                <a:ea typeface="Arial"/>
                <a:cs typeface="Arial"/>
              </a:defRPr>
            </a:pPr>
            <a:r>
              <a:rPr sz="1950" b="0">
                <a:solidFill>
                  <a:srgbClr val="142D41"/>
                </a:solidFill>
                <a:latin typeface="Arial"/>
                <a:ea typeface="Arial"/>
                <a:cs typeface="Arial"/>
              </a:rPr>
              <a:t>16 trading sessions × 5 derived features</a:t>
            </a:r>
          </a:p>
          <a:p xmlns:a="http://schemas.openxmlformats.org/drawingml/2006/main">
            <a:r>
              <a:t/>
            </a:r>
          </a:p>
          <a:p xmlns:a="http://schemas.openxmlformats.org/drawingml/2006/main">
            <a:pPr>
              <a:buNone/>
              <a:defRPr sz="1950" b="0">
                <a:solidFill>
                  <a:srgbClr val="142D41"/>
                </a:solidFill>
                <a:latin typeface="Arial"/>
                <a:ea typeface="Arial"/>
                <a:cs typeface="Arial"/>
              </a:defRPr>
            </a:pPr>
            <a:r>
              <a:rPr sz="1950" b="0">
                <a:solidFill>
                  <a:srgbClr val="142D41"/>
                </a:solidFill>
                <a:latin typeface="Arial"/>
                <a:ea typeface="Arial"/>
                <a:cs typeface="Arial"/>
              </a:rPr>
              <a:t>Daily return, price relative to 5- and 20-session averages, 20-session volatility, and relative dollar volume.</a:t>
            </a:r>
          </a:p>
        </p:txBody>
      </p:sp>
      <p:sp>
        <p:nvSpPr>
          <p:cNvPr id="4" name="">
            <a:extLst xmlns:a="http://schemas.openxmlformats.org/drawingml/2006/main">
              <a:ext uri="{FF2B5EF4-FFF2-40B4-BE49-F238E27FC236}">
                <a16:creationId xmlns:a16="http://schemas.microsoft.com/office/drawing/2014/main" id="{DFE43731-6147-4398-A301-67A0B36E9EF8}"/>
              </a:ext>
            </a:extLst>
          </p:cNvPr>
          <p:cNvSpPr>
            <a:spLocks xmlns:a="http://schemas.openxmlformats.org/drawingml/2006/main" noGrp="1"/>
          </p:cNvSpPr>
          <p:nvPr/>
        </p:nvSpPr>
        <p:spPr>
          <a:xfrm xmlns:a="http://schemas.openxmlformats.org/drawingml/2006/main">
            <a:off x="6381750" y="1333500"/>
            <a:ext cx="519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007D83"/>
                </a:solidFill>
                <a:latin typeface="Arial"/>
                <a:ea typeface="Arial"/>
                <a:cs typeface="Arial"/>
              </a:defRPr>
            </a:defPPr>
          </a:lstStyle>
          <a:p xmlns:a="http://schemas.openxmlformats.org/drawingml/2006/main">
            <a:pPr>
              <a:buNone/>
              <a:defRPr sz="2175" b="1">
                <a:solidFill>
                  <a:srgbClr val="007D83"/>
                </a:solidFill>
                <a:latin typeface="Arial"/>
                <a:ea typeface="Arial"/>
                <a:cs typeface="Arial"/>
              </a:defRPr>
            </a:pPr>
            <a:r>
              <a:rPr sz="2175" b="1">
                <a:solidFill>
                  <a:srgbClr val="007D83"/>
                </a:solidFill>
                <a:latin typeface="Arial"/>
                <a:ea typeface="Arial"/>
                <a:cs typeface="Arial"/>
              </a:rPr>
              <a:t>Prediction and evaluation</a:t>
            </a:r>
          </a:p>
        </p:txBody>
      </p:sp>
      <p:sp>
        <p:nvSpPr>
          <p:cNvPr id="5" name="">
            <a:extLst xmlns:a="http://schemas.openxmlformats.org/drawingml/2006/main">
              <a:ext uri="{FF2B5EF4-FFF2-40B4-BE49-F238E27FC236}">
                <a16:creationId xmlns:a16="http://schemas.microsoft.com/office/drawing/2014/main" id="{26D89E4D-5AEA-4C11-9D8A-D91BE506CC57}"/>
              </a:ext>
            </a:extLst>
          </p:cNvPr>
          <p:cNvSpPr>
            <a:spLocks xmlns:a="http://schemas.openxmlformats.org/drawingml/2006/main" noGrp="1"/>
          </p:cNvSpPr>
          <p:nvPr/>
        </p:nvSpPr>
        <p:spPr>
          <a:xfrm xmlns:a="http://schemas.openxmlformats.org/drawingml/2006/main">
            <a:off x="6381750" y="1838325"/>
            <a:ext cx="5191125"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142D41"/>
                </a:solidFill>
                <a:latin typeface="Arial"/>
                <a:ea typeface="Arial"/>
                <a:cs typeface="Arial"/>
              </a:defRPr>
            </a:defPPr>
          </a:lstStyle>
          <a:p xmlns:a="http://schemas.openxmlformats.org/drawingml/2006/main">
            <a:pPr>
              <a:buNone/>
              <a:defRPr sz="1950" b="0">
                <a:solidFill>
                  <a:srgbClr val="142D41"/>
                </a:solidFill>
                <a:latin typeface="Arial"/>
                <a:ea typeface="Arial"/>
                <a:cs typeface="Arial"/>
              </a:defRPr>
            </a:pPr>
            <a:r>
              <a:rPr sz="1950" b="0">
                <a:solidFill>
                  <a:srgbClr val="142D41"/>
                </a:solidFill>
                <a:latin typeface="Arial"/>
                <a:ea typeface="Arial"/>
                <a:cs typeface="Arial"/>
              </a:rPr>
              <a:t>Realized returns over 1 or 5 sessions</a:t>
            </a:r>
          </a:p>
          <a:p xmlns:a="http://schemas.openxmlformats.org/drawingml/2006/main">
            <a:r>
              <a:t/>
            </a:r>
          </a:p>
          <a:p xmlns:a="http://schemas.openxmlformats.org/drawingml/2006/main">
            <a:pPr>
              <a:buNone/>
              <a:defRPr sz="1950" b="0">
                <a:solidFill>
                  <a:srgbClr val="142D41"/>
                </a:solidFill>
                <a:latin typeface="Arial"/>
                <a:ea typeface="Arial"/>
                <a:cs typeface="Arial"/>
              </a:defRPr>
            </a:pPr>
            <a:r>
              <a:rPr sz="1950" b="0">
                <a:solidFill>
                  <a:srgbClr val="142D41"/>
                </a:solidFill>
                <a:latin typeface="Arial"/>
                <a:ea typeface="Arial"/>
                <a:cs typeface="Arial"/>
              </a:rPr>
              <a:t>Scores use the close at t. Trades execute at the next close. We rank eligible securities and test K = 5, 10 and 20.</a:t>
            </a:r>
          </a:p>
        </p:txBody>
      </p:sp>
      <p:sp>
        <p:nvSpPr>
          <p:cNvPr id="6" name="">
            <a:extLst xmlns:a="http://schemas.openxmlformats.org/drawingml/2006/main">
              <a:ext uri="{FF2B5EF4-FFF2-40B4-BE49-F238E27FC236}">
                <a16:creationId xmlns:a16="http://schemas.microsoft.com/office/drawing/2014/main" id="{DC28D0EB-1AC4-40BF-90A9-D64C34B4B35F}"/>
              </a:ext>
            </a:extLst>
          </p:cNvPr>
          <p:cNvSpPr>
            <a:spLocks xmlns:a="http://schemas.openxmlformats.org/drawingml/2006/main" noGrp="1"/>
          </p:cNvSpPr>
          <p:nvPr/>
        </p:nvSpPr>
        <p:spPr>
          <a:xfrm xmlns:a="http://schemas.openxmlformats.org/drawingml/2006/main">
            <a:off x="609600" y="40005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007D83"/>
                </a:solidFill>
                <a:latin typeface="Arial"/>
                <a:ea typeface="Arial"/>
                <a:cs typeface="Arial"/>
              </a:defRPr>
            </a:defPPr>
          </a:lstStyle>
          <a:p xmlns:a="http://schemas.openxmlformats.org/drawingml/2006/main">
            <a:pPr>
              <a:buNone/>
              <a:defRPr sz="2175" b="1">
                <a:solidFill>
                  <a:srgbClr val="007D83"/>
                </a:solidFill>
                <a:latin typeface="Arial"/>
                <a:ea typeface="Arial"/>
                <a:cs typeface="Arial"/>
              </a:defRPr>
            </a:pPr>
            <a:r>
              <a:rPr sz="2175" b="1">
                <a:solidFill>
                  <a:srgbClr val="007D83"/>
                </a:solidFill>
                <a:latin typeface="Arial"/>
                <a:ea typeface="Arial"/>
                <a:cs typeface="Arial"/>
              </a:rPr>
              <a:t>Coverage limits</a:t>
            </a:r>
          </a:p>
        </p:txBody>
      </p:sp>
      <p:sp>
        <p:nvSpPr>
          <p:cNvPr id="7" name="">
            <a:extLst xmlns:a="http://schemas.openxmlformats.org/drawingml/2006/main">
              <a:ext uri="{FF2B5EF4-FFF2-40B4-BE49-F238E27FC236}">
                <a16:creationId xmlns:a16="http://schemas.microsoft.com/office/drawing/2014/main" id="{CCEC7556-977D-41B5-9454-4569E9603D1A}"/>
              </a:ext>
            </a:extLst>
          </p:cNvPr>
          <p:cNvSpPr>
            <a:spLocks xmlns:a="http://schemas.openxmlformats.org/drawingml/2006/main" noGrp="1"/>
          </p:cNvSpPr>
          <p:nvPr/>
        </p:nvSpPr>
        <p:spPr>
          <a:xfrm xmlns:a="http://schemas.openxmlformats.org/drawingml/2006/main">
            <a:off x="609600" y="45243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142D41"/>
                </a:solidFill>
                <a:latin typeface="Arial"/>
                <a:ea typeface="Arial"/>
                <a:cs typeface="Arial"/>
              </a:defRPr>
            </a:defPPr>
          </a:lstStyle>
          <a:p xmlns:a="http://schemas.openxmlformats.org/drawingml/2006/main">
            <a:pPr>
              <a:buNone/>
              <a:defRPr sz="1950" b="0">
                <a:solidFill>
                  <a:srgbClr val="142D41"/>
                </a:solidFill>
                <a:latin typeface="Arial"/>
                <a:ea typeface="Arial"/>
                <a:cs typeface="Arial"/>
              </a:defRPr>
            </a:pPr>
            <a:r>
              <a:rPr sz="1950" b="0">
                <a:solidFill>
                  <a:srgbClr val="142D41"/>
                </a:solidFill>
                <a:latin typeface="Arial"/>
                <a:ea typeface="Arial"/>
                <a:cs typeface="Arial"/>
              </a:rPr>
              <a:t>Eligible stocks vary by date: NYSE 56–63, NASDAQ 50–59 in the 2022–2025 tests. Missing delisted histories create survivorship bias. The samples do not represent full exchanges or verified historical index membership.</a:t>
            </a:r>
          </a:p>
        </p:txBody>
      </p:sp>
      <p:sp>
        <p:nvSpPr>
          <p:cNvPr id="8" name="">
            <a:extLst xmlns:a="http://schemas.openxmlformats.org/drawingml/2006/main">
              <a:ext uri="{FF2B5EF4-FFF2-40B4-BE49-F238E27FC236}">
                <a16:creationId xmlns:a16="http://schemas.microsoft.com/office/drawing/2014/main" id="{CCED464F-A38B-4FE8-A5C9-F9AD3E3012F4}"/>
              </a:ext>
            </a:extLst>
          </p:cNvPr>
          <p:cNvSpPr>
            <a:spLocks xmlns:a="http://schemas.openxmlformats.org/drawingml/2006/main" noGrp="1"/>
          </p:cNvSpPr>
          <p:nvPr/>
        </p:nvSpPr>
        <p:spPr>
          <a:xfrm xmlns:a="http://schemas.openxmlformats.org/drawingml/2006/main">
            <a:off x="609600" y="57435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96171"/>
                </a:solidFill>
                <a:latin typeface="Arial"/>
                <a:ea typeface="Arial"/>
                <a:cs typeface="Arial"/>
              </a:defRPr>
            </a:defPPr>
          </a:lstStyle>
          <a:p xmlns:a="http://schemas.openxmlformats.org/drawingml/2006/main">
            <a:pPr>
              <a:buNone/>
              <a:defRPr sz="1800" b="0">
                <a:solidFill>
                  <a:srgbClr val="496171"/>
                </a:solidFill>
                <a:latin typeface="Arial"/>
                <a:ea typeface="Arial"/>
                <a:cs typeface="Arial"/>
              </a:defRPr>
            </a:pPr>
            <a:r>
              <a:rPr sz="1800" b="0">
                <a:solidFill>
                  <a:srgbClr val="496171"/>
                </a:solidFill>
                <a:latin typeface="Arial"/>
                <a:ea typeface="Arial"/>
                <a:cs typeface="Arial"/>
              </a:rPr>
              <a:t>NYSE: simulated basket. NASDAQ: QQQ. SPY: broad market. NYSX has no 2022–2025 history.</a:t>
            </a:r>
          </a:p>
        </p:txBody>
      </p:sp>
      <p:sp>
        <p:nvSpPr>
          <p:cNvPr id="9" name="">
            <a:extLst xmlns:a="http://schemas.openxmlformats.org/drawingml/2006/main">
              <a:ext uri="{FF2B5EF4-FFF2-40B4-BE49-F238E27FC236}">
                <a16:creationId xmlns:a16="http://schemas.microsoft.com/office/drawing/2014/main" id="{F3D3EE1A-8203-4E1C-BA6E-CF69C1E8F18E}"/>
              </a:ext>
            </a:extLst>
          </p:cNvPr>
          <p:cNvSpPr>
            <a:spLocks xmlns:a="http://schemas.openxmlformats.org/drawingml/2006/main" noGrp="1"/>
          </p:cNvSpPr>
          <p:nvPr/>
        </p:nvSpPr>
        <p:spPr>
          <a:xfrm xmlns:a="http://schemas.openxmlformats.org/drawingml/2006/main">
            <a:off x="609600" y="6296025"/>
            <a:ext cx="285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007D83"/>
                </a:solidFill>
                <a:latin typeface="Arial"/>
                <a:ea typeface="Arial"/>
                <a:cs typeface="Arial"/>
              </a:defRPr>
            </a:defPPr>
          </a:lstStyle>
          <a:p xmlns:a="http://schemas.openxmlformats.org/drawingml/2006/main">
            <a:pPr>
              <a:buNone/>
              <a:defRPr sz="1725" b="0">
                <a:solidFill>
                  <a:srgbClr val="007D83"/>
                </a:solidFill>
                <a:latin typeface="Arial"/>
                <a:ea typeface="Arial"/>
                <a:cs typeface="Arial"/>
              </a:defRPr>
            </a:pPr>
            <a:r>
              <a:rPr sz="1725" b="0" u="sng">
                <a:solidFill>
                  <a:srgbClr val="007D83"/>
                </a:solidFill>
                <a:latin typeface="Arial"/>
                <a:ea typeface="Arial"/>
                <a:cs typeface="Arial"/>
                <a:hlinkClick xmlns:r="http://schemas.openxmlformats.org/officeDocument/2006/relationships" r:id="R7d7fcd66a9404b6f"/>
              </a:rPr>
              <a:t>SPY price history</a:t>
            </a:r>
          </a:p>
        </p:txBody>
      </p:sp>
      <p:sp>
        <p:nvSpPr>
          <p:cNvPr id="10" name="">
            <a:extLst xmlns:a="http://schemas.openxmlformats.org/drawingml/2006/main">
              <a:ext uri="{FF2B5EF4-FFF2-40B4-BE49-F238E27FC236}">
                <a16:creationId xmlns:a16="http://schemas.microsoft.com/office/drawing/2014/main" id="{7EE30A16-FE7F-4A45-933C-8A0FBB77C96C}"/>
              </a:ext>
            </a:extLst>
          </p:cNvPr>
          <p:cNvSpPr>
            <a:spLocks xmlns:a="http://schemas.openxmlformats.org/drawingml/2006/main" noGrp="1"/>
          </p:cNvSpPr>
          <p:nvPr/>
        </p:nvSpPr>
        <p:spPr>
          <a:xfrm xmlns:a="http://schemas.openxmlformats.org/drawingml/2006/main">
            <a:off x="3810000" y="6296025"/>
            <a:ext cx="295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007D83"/>
                </a:solidFill>
                <a:latin typeface="Arial"/>
                <a:ea typeface="Arial"/>
                <a:cs typeface="Arial"/>
              </a:defRPr>
            </a:defPPr>
          </a:lstStyle>
          <a:p xmlns:a="http://schemas.openxmlformats.org/drawingml/2006/main">
            <a:pPr>
              <a:buNone/>
              <a:defRPr sz="1725" b="0">
                <a:solidFill>
                  <a:srgbClr val="007D83"/>
                </a:solidFill>
                <a:latin typeface="Arial"/>
                <a:ea typeface="Arial"/>
                <a:cs typeface="Arial"/>
              </a:defRPr>
            </a:pPr>
            <a:r>
              <a:rPr sz="1725" b="0" u="sng">
                <a:solidFill>
                  <a:srgbClr val="007D83"/>
                </a:solidFill>
                <a:latin typeface="Arial"/>
                <a:ea typeface="Arial"/>
                <a:cs typeface="Arial"/>
                <a:hlinkClick xmlns:r="http://schemas.openxmlformats.org/officeDocument/2006/relationships" r:id="Rbed001e9a8e04373"/>
              </a:rPr>
              <a:t>QQQ price history</a:t>
            </a:r>
          </a:p>
        </p:txBody>
      </p:sp>
    </p:spTree>
    <p:extLst>
      <p:ext uri="{BB962C8B-B14F-4D97-AF65-F5344CB8AC3E}">
        <p14:creationId xmlns:p14="http://schemas.microsoft.com/office/powerpoint/2010/main" val="140024094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1490007-AF1A-4C61-8749-C4057B10192C}"/>
              </a:ext>
            </a:extLst>
          </p:cNvPr>
          <p:cNvSpPr>
            <a:spLocks xmlns:a="http://schemas.openxmlformats.org/drawingml/2006/main" noGrp="1"/>
          </p:cNvSpPr>
          <p:nvPr/>
        </p:nvSpPr>
        <p:spPr>
          <a:xfrm xmlns:a="http://schemas.openxmlformats.org/drawingml/2006/main">
            <a:off x="609600" y="409575"/>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42D41"/>
                </a:solidFill>
                <a:latin typeface="Arial"/>
                <a:ea typeface="Arial"/>
                <a:cs typeface="Arial"/>
              </a:defRPr>
            </a:defPPr>
          </a:lstStyle>
          <a:p xmlns:a="http://schemas.openxmlformats.org/drawingml/2006/main">
            <a:pPr>
              <a:defRPr sz="3300" b="1">
                <a:solidFill>
                  <a:srgbClr val="142D41"/>
                </a:solidFill>
                <a:latin typeface="Arial"/>
                <a:ea typeface="Arial"/>
                <a:cs typeface="Arial"/>
              </a:defRPr>
            </a:pPr>
            <a:r>
              <a:rPr sz="3300" b="1">
                <a:solidFill>
                  <a:srgbClr val="142D41"/>
                </a:solidFill>
                <a:latin typeface="Arial"/>
                <a:ea typeface="Arial"/>
                <a:cs typeface="Arial"/>
              </a:rPr>
              <a:t>Pooled evaluation and uncertainty</a:t>
            </a:r>
          </a:p>
        </p:txBody>
      </p:sp>
      <p:sp>
        <p:nvSpPr>
          <p:cNvPr id="2" name="">
            <a:extLst xmlns:a="http://schemas.openxmlformats.org/drawingml/2006/main">
              <a:ext uri="{FF2B5EF4-FFF2-40B4-BE49-F238E27FC236}">
                <a16:creationId xmlns:a16="http://schemas.microsoft.com/office/drawing/2014/main" id="{70A97F64-7184-45CD-9191-F5D0CC3CE2D2}"/>
              </a:ext>
            </a:extLst>
          </p:cNvPr>
          <p:cNvSpPr>
            <a:spLocks xmlns:a="http://schemas.openxmlformats.org/drawingml/2006/main" noGrp="1"/>
          </p:cNvSpPr>
          <p:nvPr/>
        </p:nvSpPr>
        <p:spPr>
          <a:xfrm xmlns:a="http://schemas.openxmlformats.org/drawingml/2006/main">
            <a:off x="609600" y="12287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0">
                <a:solidFill>
                  <a:srgbClr val="496171"/>
                </a:solidFill>
                <a:latin typeface="Arial"/>
                <a:ea typeface="Arial"/>
                <a:cs typeface="Arial"/>
              </a:defRPr>
            </a:defPPr>
          </a:lstStyle>
          <a:p xmlns:a="http://schemas.openxmlformats.org/drawingml/2006/main">
            <a:pPr>
              <a:defRPr sz="2175" b="0">
                <a:solidFill>
                  <a:srgbClr val="496171"/>
                </a:solidFill>
                <a:latin typeface="Arial"/>
                <a:ea typeface="Arial"/>
                <a:cs typeface="Arial"/>
              </a:defRPr>
            </a:pPr>
            <a:r>
              <a:rPr sz="2175" b="0">
                <a:solidFill>
                  <a:srgbClr val="496171"/>
                </a:solidFill>
                <a:latin typeface="Arial"/>
                <a:ea typeface="Arial"/>
                <a:cs typeface="Arial"/>
              </a:rPr>
              <a:t>Combine held-out annual returns after each year’s model and portfolio choices.</a:t>
            </a:r>
          </a:p>
        </p:txBody>
      </p:sp>
      <p:sp>
        <p:nvSpPr>
          <p:cNvPr id="3" name="">
            <a:extLst xmlns:a="http://schemas.openxmlformats.org/drawingml/2006/main">
              <a:ext uri="{FF2B5EF4-FFF2-40B4-BE49-F238E27FC236}">
                <a16:creationId xmlns:a16="http://schemas.microsoft.com/office/drawing/2014/main" id="{66AAC4EE-3C8B-41F3-93C7-02C789C032B2}"/>
              </a:ext>
            </a:extLst>
          </p:cNvPr>
          <p:cNvSpPr>
            <a:spLocks xmlns:a="http://schemas.openxmlformats.org/drawingml/2006/main" noGrp="1"/>
          </p:cNvSpPr>
          <p:nvPr/>
        </p:nvSpPr>
        <p:spPr>
          <a:xfrm xmlns:a="http://schemas.openxmlformats.org/drawingml/2006/main">
            <a:off x="609600" y="21907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007D83"/>
                </a:solidFill>
                <a:latin typeface="Arial"/>
                <a:ea typeface="Arial"/>
                <a:cs typeface="Arial"/>
              </a:defRPr>
            </a:defPPr>
          </a:lstStyle>
          <a:p xmlns:a="http://schemas.openxmlformats.org/drawingml/2006/main">
            <a:pPr>
              <a:defRPr sz="2175" b="1">
                <a:solidFill>
                  <a:srgbClr val="007D83"/>
                </a:solidFill>
                <a:latin typeface="Arial"/>
                <a:ea typeface="Arial"/>
                <a:cs typeface="Arial"/>
              </a:defRPr>
            </a:pPr>
            <a:r>
              <a:rPr sz="2175" b="1">
                <a:solidFill>
                  <a:srgbClr val="007D83"/>
                </a:solidFill>
                <a:latin typeface="Arial"/>
                <a:ea typeface="Arial"/>
                <a:cs typeface="Arial"/>
              </a:rPr>
              <a:t>Four-year curves</a:t>
            </a:r>
          </a:p>
        </p:txBody>
      </p:sp>
      <p:sp>
        <p:nvSpPr>
          <p:cNvPr id="4" name="">
            <a:extLst xmlns:a="http://schemas.openxmlformats.org/drawingml/2006/main">
              <a:ext uri="{FF2B5EF4-FFF2-40B4-BE49-F238E27FC236}">
                <a16:creationId xmlns:a16="http://schemas.microsoft.com/office/drawing/2014/main" id="{549509B9-AEBE-4BF3-B895-973D4CF1E4CF}"/>
              </a:ext>
            </a:extLst>
          </p:cNvPr>
          <p:cNvSpPr>
            <a:spLocks xmlns:a="http://schemas.openxmlformats.org/drawingml/2006/main" noGrp="1"/>
          </p:cNvSpPr>
          <p:nvPr/>
        </p:nvSpPr>
        <p:spPr>
          <a:xfrm xmlns:a="http://schemas.openxmlformats.org/drawingml/2006/main">
            <a:off x="609600" y="27051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42D41"/>
                </a:solidFill>
                <a:latin typeface="Arial"/>
                <a:ea typeface="Arial"/>
                <a:cs typeface="Arial"/>
              </a:defRPr>
            </a:defPPr>
          </a:lstStyle>
          <a:p xmlns:a="http://schemas.openxmlformats.org/drawingml/2006/main">
            <a:pPr>
              <a:defRPr sz="2025" b="0">
                <a:solidFill>
                  <a:srgbClr val="142D41"/>
                </a:solidFill>
                <a:latin typeface="Arial"/>
                <a:ea typeface="Arial"/>
                <a:cs typeface="Arial"/>
              </a:defRPr>
            </a:pPr>
            <a:r>
              <a:rPr sz="2025" b="0">
                <a:solidFill>
                  <a:srgbClr val="142D41"/>
                </a:solidFill>
                <a:latin typeface="Arial"/>
                <a:ea typeface="Arial"/>
                <a:cs typeface="Arial"/>
              </a:rPr>
              <a:t>Compound the 2022, 2023, 2024 and 2025 test returns within each cohort. Each annual account starts at $1m. Boundary sessions remain omitted.</a:t>
            </a:r>
          </a:p>
        </p:txBody>
      </p:sp>
      <p:sp>
        <p:nvSpPr>
          <p:cNvPr id="5" name="">
            <a:extLst xmlns:a="http://schemas.openxmlformats.org/drawingml/2006/main">
              <a:ext uri="{FF2B5EF4-FFF2-40B4-BE49-F238E27FC236}">
                <a16:creationId xmlns:a16="http://schemas.microsoft.com/office/drawing/2014/main" id="{88880313-4552-4178-9D30-CF4F69C7334D}"/>
              </a:ext>
            </a:extLst>
          </p:cNvPr>
          <p:cNvSpPr>
            <a:spLocks xmlns:a="http://schemas.openxmlformats.org/drawingml/2006/main" noGrp="1"/>
          </p:cNvSpPr>
          <p:nvPr/>
        </p:nvSpPr>
        <p:spPr>
          <a:xfrm xmlns:a="http://schemas.openxmlformats.org/drawingml/2006/main">
            <a:off x="609600" y="37814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007D83"/>
                </a:solidFill>
                <a:latin typeface="Arial"/>
                <a:ea typeface="Arial"/>
                <a:cs typeface="Arial"/>
              </a:defRPr>
            </a:defPPr>
          </a:lstStyle>
          <a:p xmlns:a="http://schemas.openxmlformats.org/drawingml/2006/main">
            <a:pPr>
              <a:defRPr sz="2175" b="1">
                <a:solidFill>
                  <a:srgbClr val="007D83"/>
                </a:solidFill>
                <a:latin typeface="Arial"/>
                <a:ea typeface="Arial"/>
                <a:cs typeface="Arial"/>
              </a:defRPr>
            </a:pPr>
            <a:r>
              <a:rPr sz="2175" b="1">
                <a:solidFill>
                  <a:srgbClr val="007D83"/>
                </a:solidFill>
                <a:latin typeface="Arial"/>
                <a:ea typeface="Arial"/>
                <a:cs typeface="Arial"/>
              </a:rPr>
              <a:t>Matched cohort controls</a:t>
            </a:r>
          </a:p>
        </p:txBody>
      </p:sp>
      <p:sp>
        <p:nvSpPr>
          <p:cNvPr id="6" name="">
            <a:extLst xmlns:a="http://schemas.openxmlformats.org/drawingml/2006/main">
              <a:ext uri="{FF2B5EF4-FFF2-40B4-BE49-F238E27FC236}">
                <a16:creationId xmlns:a16="http://schemas.microsoft.com/office/drawing/2014/main" id="{65AA0E68-7503-4F4E-A7BA-FF8E21745A77}"/>
              </a:ext>
            </a:extLst>
          </p:cNvPr>
          <p:cNvSpPr>
            <a:spLocks xmlns:a="http://schemas.openxmlformats.org/drawingml/2006/main" noGrp="1"/>
          </p:cNvSpPr>
          <p:nvPr/>
        </p:nvSpPr>
        <p:spPr>
          <a:xfrm xmlns:a="http://schemas.openxmlformats.org/drawingml/2006/main">
            <a:off x="609600" y="42957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42D41"/>
                </a:solidFill>
                <a:latin typeface="Arial"/>
                <a:ea typeface="Arial"/>
                <a:cs typeface="Arial"/>
              </a:defRPr>
            </a:defPPr>
          </a:lstStyle>
          <a:p xmlns:a="http://schemas.openxmlformats.org/drawingml/2006/main">
            <a:pPr>
              <a:defRPr sz="2025" b="0">
                <a:solidFill>
                  <a:srgbClr val="142D41"/>
                </a:solidFill>
                <a:latin typeface="Arial"/>
                <a:ea typeface="Arial"/>
                <a:cs typeface="Arial"/>
              </a:defRPr>
            </a:pPr>
            <a:r>
              <a:rPr sz="2025" b="0">
                <a:solidFill>
                  <a:srgbClr val="142D41"/>
                </a:solidFill>
                <a:latin typeface="Arial"/>
                <a:ea typeface="Arial"/>
                <a:cs typeface="Arial"/>
              </a:rPr>
              <a:t>Cohort references use matched dates: a simulated basket for NYSE, QQQ for NASDAQ and SPY for context. NYSX launched March 25, 2026.</a:t>
            </a:r>
          </a:p>
        </p:txBody>
      </p:sp>
      <p:sp>
        <p:nvSpPr>
          <p:cNvPr id="7" name="">
            <a:extLst xmlns:a="http://schemas.openxmlformats.org/drawingml/2006/main">
              <a:ext uri="{FF2B5EF4-FFF2-40B4-BE49-F238E27FC236}">
                <a16:creationId xmlns:a16="http://schemas.microsoft.com/office/drawing/2014/main" id="{FEF3F578-E5C0-4C4E-B097-2BBA39C851C2}"/>
              </a:ext>
            </a:extLst>
          </p:cNvPr>
          <p:cNvSpPr>
            <a:spLocks xmlns:a="http://schemas.openxmlformats.org/drawingml/2006/main" noGrp="1"/>
          </p:cNvSpPr>
          <p:nvPr/>
        </p:nvSpPr>
        <p:spPr>
          <a:xfrm xmlns:a="http://schemas.openxmlformats.org/drawingml/2006/main">
            <a:off x="609600" y="53054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007D83"/>
                </a:solidFill>
                <a:latin typeface="Arial"/>
                <a:ea typeface="Arial"/>
                <a:cs typeface="Arial"/>
              </a:defRPr>
            </a:defPPr>
          </a:lstStyle>
          <a:p xmlns:a="http://schemas.openxmlformats.org/drawingml/2006/main">
            <a:pPr>
              <a:defRPr sz="2175" b="1">
                <a:solidFill>
                  <a:srgbClr val="007D83"/>
                </a:solidFill>
                <a:latin typeface="Arial"/>
                <a:ea typeface="Arial"/>
                <a:cs typeface="Arial"/>
              </a:defRPr>
            </a:pPr>
            <a:r>
              <a:rPr sz="2175" b="1">
                <a:solidFill>
                  <a:srgbClr val="007D83"/>
                </a:solidFill>
                <a:latin typeface="Arial"/>
                <a:ea typeface="Arial"/>
                <a:cs typeface="Arial"/>
              </a:rPr>
              <a:t>Confidence intervals</a:t>
            </a:r>
          </a:p>
        </p:txBody>
      </p:sp>
      <p:sp>
        <p:nvSpPr>
          <p:cNvPr id="8" name="">
            <a:extLst xmlns:a="http://schemas.openxmlformats.org/drawingml/2006/main">
              <a:ext uri="{FF2B5EF4-FFF2-40B4-BE49-F238E27FC236}">
                <a16:creationId xmlns:a16="http://schemas.microsoft.com/office/drawing/2014/main" id="{68D45B29-BE3A-4370-BF02-460A8D3EE90F}"/>
              </a:ext>
            </a:extLst>
          </p:cNvPr>
          <p:cNvSpPr>
            <a:spLocks xmlns:a="http://schemas.openxmlformats.org/drawingml/2006/main" noGrp="1"/>
          </p:cNvSpPr>
          <p:nvPr/>
        </p:nvSpPr>
        <p:spPr>
          <a:xfrm xmlns:a="http://schemas.openxmlformats.org/drawingml/2006/main">
            <a:off x="609600" y="58007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142D41"/>
                </a:solidFill>
                <a:latin typeface="Arial"/>
                <a:ea typeface="Arial"/>
                <a:cs typeface="Arial"/>
              </a:defRPr>
            </a:defPPr>
          </a:lstStyle>
          <a:p xmlns:a="http://schemas.openxmlformats.org/drawingml/2006/main">
            <a:pPr>
              <a:defRPr sz="1875" b="0">
                <a:solidFill>
                  <a:srgbClr val="142D41"/>
                </a:solidFill>
                <a:latin typeface="Arial"/>
                <a:ea typeface="Arial"/>
                <a:cs typeface="Arial"/>
              </a:defRPr>
            </a:pPr>
            <a:r>
              <a:rPr sz="1875" b="0">
                <a:solidFill>
                  <a:srgbClr val="142D41"/>
                </a:solidFill>
                <a:latin typeface="Arial"/>
                <a:ea typeface="Arial"/>
                <a:cs typeface="Arial"/>
              </a:rPr>
              <a:t>95% intervals use 1,000 paired block-bootstrap samples. They remain exploratory and do not correct for model selection or survivorship bias.</a:t>
            </a:r>
          </a:p>
        </p:txBody>
      </p:sp>
    </p:spTree>
    <p:extLst>
      <p:ext uri="{BB962C8B-B14F-4D97-AF65-F5344CB8AC3E}">
        <p14:creationId xmlns:p14="http://schemas.microsoft.com/office/powerpoint/2010/main" val="3822634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2026-10-08T15:31:14.9610000Z</dcterms:created>
  <dcterms:modified xsi:type="dcterms:W3CDTF">2026-10-08T15:31:14.9620000Z</dcterms:modified>
</coreProperties>
</file>